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67" r:id="rId2"/>
    <p:sldId id="913" r:id="rId3"/>
    <p:sldId id="369" r:id="rId4"/>
    <p:sldId id="618" r:id="rId5"/>
    <p:sldId id="542" r:id="rId6"/>
    <p:sldId id="372" r:id="rId7"/>
    <p:sldId id="506" r:id="rId8"/>
    <p:sldId id="507" r:id="rId9"/>
    <p:sldId id="376" r:id="rId10"/>
    <p:sldId id="3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5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6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na Passfield" userId="8b3d8d318c456f76" providerId="LiveId" clId="{105A5299-9F43-4A95-BB21-43B9E3173535}"/>
    <pc:docChg chg="modSld">
      <pc:chgData name="Shona Passfield" userId="8b3d8d318c456f76" providerId="LiveId" clId="{105A5299-9F43-4A95-BB21-43B9E3173535}" dt="2024-07-22T13:14:34.213" v="1" actId="1076"/>
      <pc:docMkLst>
        <pc:docMk/>
      </pc:docMkLst>
      <pc:sldChg chg="modSp mod">
        <pc:chgData name="Shona Passfield" userId="8b3d8d318c456f76" providerId="LiveId" clId="{105A5299-9F43-4A95-BB21-43B9E3173535}" dt="2024-07-22T13:14:34.213" v="1" actId="1076"/>
        <pc:sldMkLst>
          <pc:docMk/>
          <pc:sldMk cId="2838539767" sldId="369"/>
        </pc:sldMkLst>
        <pc:spChg chg="mod">
          <ac:chgData name="Shona Passfield" userId="8b3d8d318c456f76" providerId="LiveId" clId="{105A5299-9F43-4A95-BB21-43B9E3173535}" dt="2024-07-22T13:14:34.213" v="1" actId="1076"/>
          <ac:spMkLst>
            <pc:docMk/>
            <pc:sldMk cId="2838539767" sldId="369"/>
            <ac:spMk id="2" creationId="{F75AAA33-635B-436A-92A0-06291E4551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AA06E2-BDCF-47BD-BAED-F011BD4E0540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6DF05-A813-484D-BC6F-6808277443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869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fr-FR" dirty="0" err="1"/>
              <a:t>Reduce</a:t>
            </a:r>
            <a:r>
              <a:rPr lang="fr-FR" dirty="0"/>
              <a:t> </a:t>
            </a:r>
            <a:r>
              <a:rPr lang="fr-FR" dirty="0" err="1"/>
              <a:t>number</a:t>
            </a:r>
            <a:r>
              <a:rPr lang="fr-FR" dirty="0"/>
              <a:t> of action</a:t>
            </a:r>
            <a:r>
              <a:rPr lang="fr-FR" baseline="0" dirty="0"/>
              <a:t> </a:t>
            </a:r>
            <a:r>
              <a:rPr lang="fr-FR" baseline="0" dirty="0" err="1"/>
              <a:t>principles</a:t>
            </a:r>
            <a:r>
              <a:rPr lang="fr-FR" baseline="0" dirty="0"/>
              <a:t>.</a:t>
            </a:r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endParaRPr lang="fr-FR" baseline="0" dirty="0"/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fr-FR" baseline="0" dirty="0"/>
              <a:t>+ </a:t>
            </a:r>
            <a:r>
              <a:rPr lang="fr-FR" dirty="0" err="1"/>
              <a:t>Improve</a:t>
            </a:r>
            <a:r>
              <a:rPr lang="fr-FR" dirty="0"/>
              <a:t> </a:t>
            </a:r>
            <a:r>
              <a:rPr lang="fr-FR" dirty="0" err="1"/>
              <a:t>quality</a:t>
            </a:r>
            <a:r>
              <a:rPr lang="fr-FR" dirty="0"/>
              <a:t> of English. Simple</a:t>
            </a:r>
            <a:r>
              <a:rPr lang="fr-FR" baseline="0" dirty="0"/>
              <a:t> but </a:t>
            </a:r>
            <a:r>
              <a:rPr lang="fr-FR" baseline="0" dirty="0" err="1"/>
              <a:t>clear</a:t>
            </a:r>
            <a:r>
              <a:rPr lang="fr-FR" baseline="0" dirty="0"/>
              <a:t> English.</a:t>
            </a:r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endParaRPr lang="fr-FR" baseline="0" dirty="0"/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endParaRPr lang="fr-FR" baseline="0" dirty="0"/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fr-FR" baseline="0" dirty="0" err="1"/>
              <a:t>Eliminate</a:t>
            </a:r>
            <a:r>
              <a:rPr lang="fr-FR" baseline="0" dirty="0"/>
              <a:t> #2</a:t>
            </a:r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endParaRPr lang="fr-FR" baseline="0" dirty="0"/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fr-FR" baseline="0" dirty="0" err="1"/>
              <a:t>Keep</a:t>
            </a:r>
            <a:r>
              <a:rPr lang="fr-FR" baseline="0" dirty="0"/>
              <a:t> in </a:t>
            </a:r>
            <a:r>
              <a:rPr lang="fr-FR" baseline="0" dirty="0" err="1"/>
              <a:t>mind</a:t>
            </a:r>
            <a:r>
              <a:rPr lang="fr-FR" baseline="0" dirty="0"/>
              <a:t>: Are </a:t>
            </a:r>
            <a:r>
              <a:rPr lang="fr-FR" baseline="0" dirty="0" err="1"/>
              <a:t>we</a:t>
            </a:r>
            <a:r>
              <a:rPr lang="fr-FR" baseline="0" dirty="0"/>
              <a:t> </a:t>
            </a:r>
            <a:r>
              <a:rPr lang="fr-FR" baseline="0" dirty="0" err="1"/>
              <a:t>working</a:t>
            </a:r>
            <a:r>
              <a:rPr lang="fr-FR" baseline="0" dirty="0"/>
              <a:t> </a:t>
            </a:r>
            <a:r>
              <a:rPr lang="fr-FR" baseline="0" dirty="0" err="1"/>
              <a:t>with</a:t>
            </a:r>
            <a:r>
              <a:rPr lang="fr-FR" baseline="0" dirty="0"/>
              <a:t> </a:t>
            </a:r>
            <a:r>
              <a:rPr lang="fr-FR" baseline="0" dirty="0" err="1"/>
              <a:t>illiterates</a:t>
            </a:r>
            <a:r>
              <a:rPr lang="fr-FR" baseline="0" dirty="0"/>
              <a:t>?</a:t>
            </a:r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fr-FR" baseline="0" dirty="0" err="1"/>
              <a:t>Many</a:t>
            </a:r>
            <a:r>
              <a:rPr lang="fr-FR" baseline="0" dirty="0"/>
              <a:t> action </a:t>
            </a:r>
            <a:r>
              <a:rPr lang="fr-FR" baseline="0" dirty="0" err="1"/>
              <a:t>principled</a:t>
            </a:r>
            <a:r>
              <a:rPr lang="fr-FR" baseline="0" dirty="0"/>
              <a:t> </a:t>
            </a:r>
            <a:r>
              <a:rPr lang="fr-FR" baseline="0" dirty="0" err="1"/>
              <a:t>may</a:t>
            </a:r>
            <a:r>
              <a:rPr lang="fr-FR" baseline="0" dirty="0"/>
              <a:t> </a:t>
            </a:r>
            <a:r>
              <a:rPr lang="fr-FR" baseline="0" dirty="0" err="1"/>
              <a:t>be</a:t>
            </a:r>
            <a:r>
              <a:rPr lang="fr-FR" baseline="0" dirty="0"/>
              <a:t> </a:t>
            </a:r>
            <a:r>
              <a:rPr lang="fr-FR" baseline="0" dirty="0" err="1"/>
              <a:t>useful</a:t>
            </a:r>
            <a:r>
              <a:rPr lang="fr-FR" baseline="0" dirty="0"/>
              <a:t> to </a:t>
            </a:r>
            <a:r>
              <a:rPr lang="fr-FR" baseline="0" dirty="0" err="1"/>
              <a:t>revise</a:t>
            </a:r>
            <a:r>
              <a:rPr lang="fr-FR" baseline="0" dirty="0"/>
              <a:t> &amp; </a:t>
            </a:r>
            <a:r>
              <a:rPr lang="fr-FR" baseline="0" dirty="0" err="1"/>
              <a:t>explain</a:t>
            </a:r>
            <a:r>
              <a:rPr lang="fr-FR" baseline="0" dirty="0"/>
              <a:t> </a:t>
            </a:r>
            <a:r>
              <a:rPr lang="fr-FR" baseline="0" dirty="0" err="1"/>
              <a:t>material</a:t>
            </a:r>
            <a:r>
              <a:rPr lang="fr-FR" baseline="0" dirty="0"/>
              <a:t>.</a:t>
            </a:r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fr-FR" baseline="0" dirty="0"/>
              <a:t>Few action </a:t>
            </a:r>
            <a:r>
              <a:rPr lang="fr-FR" baseline="0" dirty="0" err="1"/>
              <a:t>principles</a:t>
            </a:r>
            <a:r>
              <a:rPr lang="fr-FR" baseline="0" dirty="0"/>
              <a:t> are </a:t>
            </a:r>
            <a:r>
              <a:rPr lang="fr-FR" baseline="0" dirty="0" err="1"/>
              <a:t>easier</a:t>
            </a:r>
            <a:r>
              <a:rPr lang="fr-FR" baseline="0" dirty="0"/>
              <a:t> for </a:t>
            </a:r>
            <a:r>
              <a:rPr lang="fr-FR" baseline="0" dirty="0" err="1"/>
              <a:t>remembering</a:t>
            </a:r>
            <a:r>
              <a:rPr lang="fr-FR" baseline="0" dirty="0"/>
              <a:t> </a:t>
            </a:r>
            <a:r>
              <a:rPr lang="fr-FR" baseline="0" dirty="0" err="1"/>
              <a:t>them</a:t>
            </a:r>
            <a:r>
              <a:rPr lang="fr-FR" baseline="0" dirty="0"/>
              <a:t>.</a:t>
            </a:r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endParaRPr lang="fr-FR" baseline="0" dirty="0"/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endParaRPr lang="fr-FR" dirty="0"/>
          </a:p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052948-8FF2-4265-9115-B6B694A2C9D2}" type="slidenum">
              <a:rPr kumimoji="0" lang="de-DE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825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 lIns="92830" tIns="46415" rIns="92830" bIns="46415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76" indent="-29064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257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760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2641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767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270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7735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52766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D3F49E0-BFE2-44F1-915D-2159F90CB7EB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6525" y="754063"/>
            <a:ext cx="6677025" cy="3756025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366" y="4761949"/>
            <a:ext cx="5094003" cy="4511404"/>
          </a:xfrm>
          <a:noFill/>
        </p:spPr>
        <p:txBody>
          <a:bodyPr/>
          <a:lstStyle/>
          <a:p>
            <a:pPr marL="161163" indent="0"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241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 lIns="92830" tIns="46415" rIns="92830" bIns="46415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76" indent="-29064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257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760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2641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767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270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7735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52766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B9EAD53-4528-4BDF-B912-71377E6E519B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6525" y="754063"/>
            <a:ext cx="6677025" cy="375602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366" y="4761949"/>
            <a:ext cx="5094003" cy="4511404"/>
          </a:xfrm>
          <a:noFill/>
        </p:spPr>
        <p:txBody>
          <a:bodyPr/>
          <a:lstStyle/>
          <a:p>
            <a:pPr marL="161163" indent="0">
              <a:buNone/>
            </a:pPr>
            <a:r>
              <a:rPr lang="en-US" dirty="0">
                <a:latin typeface="Arial" panose="020B0604020202020204" pitchFamily="34" charset="0"/>
              </a:rPr>
              <a:t>Slides 14-16 maybe a little bit too</a:t>
            </a:r>
            <a:r>
              <a:rPr lang="en-US" baseline="0" dirty="0">
                <a:latin typeface="Arial" panose="020B0604020202020204" pitchFamily="34" charset="0"/>
              </a:rPr>
              <a:t> similar</a:t>
            </a:r>
          </a:p>
          <a:p>
            <a:pPr marL="161163" indent="0">
              <a:buNone/>
            </a:pPr>
            <a:r>
              <a:rPr lang="en-US" baseline="0" dirty="0">
                <a:latin typeface="Arial" panose="020B0604020202020204" pitchFamily="34" charset="0"/>
                <a:sym typeface="Wingdings" panose="05000000000000000000" pitchFamily="2" charset="2"/>
              </a:rPr>
              <a:t> Can be reduced?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254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 lIns="92830" tIns="46415" rIns="92830" bIns="46415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76" indent="-29064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257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760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2641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767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270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7735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52766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E9FCD46-4A38-48DB-B0E4-309F0C1BB07B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6525" y="754063"/>
            <a:ext cx="6677025" cy="3756025"/>
          </a:xfrm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366" y="4761949"/>
            <a:ext cx="5094003" cy="4511404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849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96b27c39bb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96b27c39bb_0_48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653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96b27c39bb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96b27c39bb_0_48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165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 lIns="92830" tIns="46415" rIns="92830" bIns="46415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76" indent="-29064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257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760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2641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767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270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7735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52766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E8780A-940E-452F-B750-34EBB3AB8FAA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6525" y="754063"/>
            <a:ext cx="6677025" cy="3756025"/>
          </a:xfrm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366" y="4761949"/>
            <a:ext cx="5094003" cy="4511404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161163" indent="0">
              <a:buNone/>
            </a:pPr>
            <a:r>
              <a:rPr lang="en-US" dirty="0">
                <a:latin typeface="Arial" panose="020B0604020202020204" pitchFamily="34" charset="0"/>
              </a:rPr>
              <a:t>Adapt the example based on suggestion. Immediately</a:t>
            </a:r>
            <a:r>
              <a:rPr lang="en-US" baseline="0" dirty="0">
                <a:latin typeface="Arial" panose="020B0604020202020204" pitchFamily="34" charset="0"/>
              </a:rPr>
              <a:t> ADD more proactive </a:t>
            </a:r>
            <a:r>
              <a:rPr lang="en-US" baseline="0" dirty="0" err="1">
                <a:latin typeface="Arial" panose="020B0604020202020204" pitchFamily="34" charset="0"/>
              </a:rPr>
              <a:t>behaviours</a:t>
            </a:r>
            <a:r>
              <a:rPr lang="en-US" baseline="0" dirty="0">
                <a:latin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655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 lIns="92830" tIns="46415" rIns="92830" bIns="46415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76" indent="-29064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257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760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2641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767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270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7735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52766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19294F9-E41F-49A3-B680-70929CC9A29E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6525" y="754063"/>
            <a:ext cx="6677025" cy="3756025"/>
          </a:xfrm>
          <a:solidFill>
            <a:srgbClr val="FFFFFF"/>
          </a:solidFill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366" y="4761949"/>
            <a:ext cx="5094003" cy="4511404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161163" indent="0">
              <a:buNone/>
            </a:pP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772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1769500" y="4274333"/>
            <a:ext cx="3479200" cy="19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867">
                <a:solidFill>
                  <a:schemeClr val="dk1"/>
                </a:solidFill>
              </a:defRPr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7054433" y="4274333"/>
            <a:ext cx="3479200" cy="19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867">
                <a:solidFill>
                  <a:schemeClr val="dk1"/>
                </a:solidFill>
              </a:defRPr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435467" y="698900"/>
            <a:ext cx="483480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  <p:sp>
        <p:nvSpPr>
          <p:cNvPr id="24" name="Google Shape;24;p5"/>
          <p:cNvSpPr/>
          <p:nvPr/>
        </p:nvSpPr>
        <p:spPr>
          <a:xfrm rot="5400000">
            <a:off x="11059408" y="1046747"/>
            <a:ext cx="369600" cy="6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1769503" y="3746100"/>
            <a:ext cx="3487600" cy="6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Josefin Sans Thin"/>
              <a:buNone/>
              <a:defRPr sz="2267">
                <a:solidFill>
                  <a:schemeClr val="dk1"/>
                </a:solidFill>
                <a:latin typeface="Josefin Sans Thin"/>
                <a:ea typeface="Josefin Sans Thin"/>
                <a:cs typeface="Josefin Sans Thin"/>
                <a:sym typeface="Josefin Sans Thin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7055633" y="3746100"/>
            <a:ext cx="3487600" cy="6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Josefin Sans Thin"/>
              <a:buNone/>
              <a:defRPr sz="2267">
                <a:solidFill>
                  <a:schemeClr val="dk1"/>
                </a:solidFill>
                <a:latin typeface="Josefin Sans Thin"/>
                <a:ea typeface="Josefin Sans Thin"/>
                <a:cs typeface="Josefin Sans Thin"/>
                <a:sym typeface="Josefin Sans Thin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240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942000" y="3790267"/>
            <a:ext cx="3706000" cy="2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867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55865" y="1206900"/>
            <a:ext cx="379200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3" name="Google Shape;33;p7"/>
          <p:cNvSpPr/>
          <p:nvPr/>
        </p:nvSpPr>
        <p:spPr>
          <a:xfrm rot="5400000">
            <a:off x="721608" y="1554747"/>
            <a:ext cx="369600" cy="692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97285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;p10"/>
          <p:cNvSpPr txBox="1">
            <a:spLocks noGrp="1"/>
          </p:cNvSpPr>
          <p:nvPr>
            <p:ph type="title"/>
          </p:nvPr>
        </p:nvSpPr>
        <p:spPr>
          <a:xfrm>
            <a:off x="855859" y="698900"/>
            <a:ext cx="780554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043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3;p10"/>
          <p:cNvSpPr txBox="1">
            <a:spLocks noGrp="1"/>
          </p:cNvSpPr>
          <p:nvPr>
            <p:ph type="title"/>
          </p:nvPr>
        </p:nvSpPr>
        <p:spPr>
          <a:xfrm>
            <a:off x="1343026" y="698900"/>
            <a:ext cx="7318373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26999" y="195241"/>
            <a:ext cx="972127" cy="802009"/>
            <a:chOff x="2000250" y="0"/>
            <a:chExt cx="5143500" cy="4481945"/>
          </a:xfrm>
        </p:grpSpPr>
        <p:pic>
          <p:nvPicPr>
            <p:cNvPr id="2" name="Grafik 1"/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000250" y="0"/>
              <a:ext cx="5143500" cy="4481945"/>
            </a:xfrm>
            <a:prstGeom prst="rect">
              <a:avLst/>
            </a:prstGeom>
          </p:spPr>
        </p:pic>
        <p:sp>
          <p:nvSpPr>
            <p:cNvPr id="6" name="Rechteck 5"/>
            <p:cNvSpPr/>
            <p:nvPr userDrawn="1"/>
          </p:nvSpPr>
          <p:spPr>
            <a:xfrm>
              <a:off x="3553688" y="990599"/>
              <a:ext cx="2078183" cy="262543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77126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;p10"/>
          <p:cNvSpPr txBox="1">
            <a:spLocks noGrp="1"/>
          </p:cNvSpPr>
          <p:nvPr>
            <p:ph type="title"/>
          </p:nvPr>
        </p:nvSpPr>
        <p:spPr>
          <a:xfrm>
            <a:off x="855859" y="698900"/>
            <a:ext cx="780554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154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;p10"/>
          <p:cNvSpPr txBox="1">
            <a:spLocks noGrp="1"/>
          </p:cNvSpPr>
          <p:nvPr>
            <p:ph type="title"/>
          </p:nvPr>
        </p:nvSpPr>
        <p:spPr>
          <a:xfrm>
            <a:off x="855859" y="698900"/>
            <a:ext cx="780554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970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04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609585" indent="-457189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923692" y="6597441"/>
            <a:ext cx="2344616" cy="189123"/>
          </a:xfrm>
          <a:ln/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4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966600" y="2831467"/>
            <a:ext cx="2669200" cy="12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/>
          <p:nvPr/>
        </p:nvSpPr>
        <p:spPr>
          <a:xfrm>
            <a:off x="960000" y="2841740"/>
            <a:ext cx="2671600" cy="1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9" name="Google Shape;39;p9"/>
          <p:cNvSpPr txBox="1"/>
          <p:nvPr/>
        </p:nvSpPr>
        <p:spPr>
          <a:xfrm>
            <a:off x="4119933" y="1024800"/>
            <a:ext cx="7112000" cy="5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rgbClr val="2F2F2F"/>
              </a:solidFill>
              <a:latin typeface="Rokkitt Regular"/>
              <a:ea typeface="Rokkitt Regular"/>
              <a:cs typeface="Rokkitt Regular"/>
              <a:sym typeface="Rokkitt Regular"/>
            </a:endParaRPr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4138267" y="821000"/>
            <a:ext cx="7085200" cy="5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333">
                <a:solidFill>
                  <a:srgbClr val="000000"/>
                </a:solidFill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9"/>
          <p:cNvSpPr/>
          <p:nvPr/>
        </p:nvSpPr>
        <p:spPr>
          <a:xfrm rot="10800000">
            <a:off x="1498948" y="4201467"/>
            <a:ext cx="2013600" cy="692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977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1149400" y="5213400"/>
            <a:ext cx="5439200" cy="10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149400" y="1717967"/>
            <a:ext cx="5439200" cy="316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567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subTitle" idx="1"/>
          </p:nvPr>
        </p:nvSpPr>
        <p:spPr>
          <a:xfrm>
            <a:off x="4673600" y="2702365"/>
            <a:ext cx="28580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2"/>
          </p:nvPr>
        </p:nvSpPr>
        <p:spPr>
          <a:xfrm>
            <a:off x="4673600" y="5039173"/>
            <a:ext cx="28612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subTitle" idx="3"/>
          </p:nvPr>
        </p:nvSpPr>
        <p:spPr>
          <a:xfrm>
            <a:off x="1392667" y="2702365"/>
            <a:ext cx="29596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4"/>
          </p:nvPr>
        </p:nvSpPr>
        <p:spPr>
          <a:xfrm>
            <a:off x="4800707" y="3219048"/>
            <a:ext cx="25892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5"/>
          </p:nvPr>
        </p:nvSpPr>
        <p:spPr>
          <a:xfrm>
            <a:off x="7924865" y="2702365"/>
            <a:ext cx="28444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body" idx="6"/>
          </p:nvPr>
        </p:nvSpPr>
        <p:spPr>
          <a:xfrm>
            <a:off x="8059865" y="3219048"/>
            <a:ext cx="25744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7"/>
          </p:nvPr>
        </p:nvSpPr>
        <p:spPr>
          <a:xfrm>
            <a:off x="1533267" y="3210367"/>
            <a:ext cx="26784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ubTitle" idx="8"/>
          </p:nvPr>
        </p:nvSpPr>
        <p:spPr>
          <a:xfrm>
            <a:off x="1392667" y="5060440"/>
            <a:ext cx="29596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9"/>
          </p:nvPr>
        </p:nvSpPr>
        <p:spPr>
          <a:xfrm>
            <a:off x="7936265" y="5060432"/>
            <a:ext cx="2821600" cy="4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2267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13"/>
          </p:nvPr>
        </p:nvSpPr>
        <p:spPr>
          <a:xfrm>
            <a:off x="4802093" y="5585529"/>
            <a:ext cx="25892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14"/>
          </p:nvPr>
        </p:nvSpPr>
        <p:spPr>
          <a:xfrm>
            <a:off x="8059865" y="5585529"/>
            <a:ext cx="25744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body" idx="15"/>
          </p:nvPr>
        </p:nvSpPr>
        <p:spPr>
          <a:xfrm>
            <a:off x="1533267" y="5576849"/>
            <a:ext cx="2678400" cy="1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855860" y="698900"/>
            <a:ext cx="515840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123" name="Google Shape;123;p20"/>
          <p:cNvSpPr/>
          <p:nvPr/>
        </p:nvSpPr>
        <p:spPr>
          <a:xfrm rot="5400000">
            <a:off x="721608" y="1046747"/>
            <a:ext cx="369600" cy="6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73705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428600" y="374933"/>
            <a:ext cx="11334800" cy="414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2402800" y="951133"/>
            <a:ext cx="73864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1153000" y="3319400"/>
            <a:ext cx="218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1232600" y="2172233"/>
            <a:ext cx="2028800" cy="9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 idx="3"/>
          </p:nvPr>
        </p:nvSpPr>
        <p:spPr>
          <a:xfrm>
            <a:off x="964000" y="2877033"/>
            <a:ext cx="2566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4"/>
          </p:nvPr>
        </p:nvSpPr>
        <p:spPr>
          <a:xfrm>
            <a:off x="3719000" y="3331117"/>
            <a:ext cx="218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5" hasCustomPrompt="1"/>
          </p:nvPr>
        </p:nvSpPr>
        <p:spPr>
          <a:xfrm>
            <a:off x="3798600" y="2183951"/>
            <a:ext cx="2028800" cy="9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6"/>
          </p:nvPr>
        </p:nvSpPr>
        <p:spPr>
          <a:xfrm>
            <a:off x="3530000" y="2888751"/>
            <a:ext cx="2566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7"/>
          </p:nvPr>
        </p:nvSpPr>
        <p:spPr>
          <a:xfrm>
            <a:off x="6285000" y="3354517"/>
            <a:ext cx="218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8" hasCustomPrompt="1"/>
          </p:nvPr>
        </p:nvSpPr>
        <p:spPr>
          <a:xfrm>
            <a:off x="6364600" y="2207351"/>
            <a:ext cx="2028800" cy="9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ctrTitle" idx="9"/>
          </p:nvPr>
        </p:nvSpPr>
        <p:spPr>
          <a:xfrm>
            <a:off x="6096000" y="2912151"/>
            <a:ext cx="2566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3"/>
          </p:nvPr>
        </p:nvSpPr>
        <p:spPr>
          <a:xfrm>
            <a:off x="8851000" y="3354517"/>
            <a:ext cx="218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14" hasCustomPrompt="1"/>
          </p:nvPr>
        </p:nvSpPr>
        <p:spPr>
          <a:xfrm>
            <a:off x="8930600" y="2207351"/>
            <a:ext cx="2028800" cy="9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5"/>
          </p:nvPr>
        </p:nvSpPr>
        <p:spPr>
          <a:xfrm>
            <a:off x="8662000" y="2912151"/>
            <a:ext cx="2566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6782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COLUMNS 2">
  <p:cSld name="TITLE + 4 COLUMNS 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511267" y="414401"/>
            <a:ext cx="7004000" cy="54567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13700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ctrTitle"/>
          </p:nvPr>
        </p:nvSpPr>
        <p:spPr>
          <a:xfrm>
            <a:off x="13700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2"/>
          </p:nvPr>
        </p:nvSpPr>
        <p:spPr>
          <a:xfrm>
            <a:off x="13700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ctrTitle" idx="3"/>
          </p:nvPr>
        </p:nvSpPr>
        <p:spPr>
          <a:xfrm>
            <a:off x="13700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ctrTitle" idx="4"/>
          </p:nvPr>
        </p:nvSpPr>
        <p:spPr>
          <a:xfrm>
            <a:off x="1370063" y="960000"/>
            <a:ext cx="52864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5"/>
          </p:nvPr>
        </p:nvSpPr>
        <p:spPr>
          <a:xfrm>
            <a:off x="42783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ctrTitle" idx="6"/>
          </p:nvPr>
        </p:nvSpPr>
        <p:spPr>
          <a:xfrm>
            <a:off x="42783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7"/>
          </p:nvPr>
        </p:nvSpPr>
        <p:spPr>
          <a:xfrm>
            <a:off x="42783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ctrTitle" idx="8"/>
          </p:nvPr>
        </p:nvSpPr>
        <p:spPr>
          <a:xfrm>
            <a:off x="42783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2767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COLUMNS 2" preserve="1">
  <p:cSld name="1_TITLE + 4 COLUMNS 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511267" y="414401"/>
            <a:ext cx="7004000" cy="5456783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13700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ctrTitle"/>
          </p:nvPr>
        </p:nvSpPr>
        <p:spPr>
          <a:xfrm>
            <a:off x="13700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2"/>
          </p:nvPr>
        </p:nvSpPr>
        <p:spPr>
          <a:xfrm>
            <a:off x="13700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ctrTitle" idx="3"/>
          </p:nvPr>
        </p:nvSpPr>
        <p:spPr>
          <a:xfrm>
            <a:off x="13700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ctrTitle" idx="4"/>
          </p:nvPr>
        </p:nvSpPr>
        <p:spPr>
          <a:xfrm>
            <a:off x="1370063" y="960000"/>
            <a:ext cx="52864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5"/>
          </p:nvPr>
        </p:nvSpPr>
        <p:spPr>
          <a:xfrm>
            <a:off x="42783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ctrTitle" idx="6"/>
          </p:nvPr>
        </p:nvSpPr>
        <p:spPr>
          <a:xfrm>
            <a:off x="42783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7"/>
          </p:nvPr>
        </p:nvSpPr>
        <p:spPr>
          <a:xfrm>
            <a:off x="42783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ctrTitle" idx="8"/>
          </p:nvPr>
        </p:nvSpPr>
        <p:spPr>
          <a:xfrm>
            <a:off x="42783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2950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4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5576" y="4521105"/>
            <a:ext cx="2810907" cy="2395964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67228" y="4486569"/>
            <a:ext cx="2943179" cy="2372487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6321" y="4486569"/>
            <a:ext cx="2810907" cy="2395964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6483" y="4485514"/>
            <a:ext cx="2943179" cy="237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94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">
  <p:cSld name="Quote 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 flipH="1">
            <a:off x="-16" y="3873333"/>
            <a:ext cx="4130400" cy="316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3"/>
              </a:solidFill>
            </a:endParaRPr>
          </a:p>
        </p:txBody>
      </p:sp>
      <p:sp>
        <p:nvSpPr>
          <p:cNvPr id="59" name="Google Shape;59;p8"/>
          <p:cNvSpPr txBox="1">
            <a:spLocks noGrp="1"/>
          </p:cNvSpPr>
          <p:nvPr>
            <p:ph type="subTitle" idx="1"/>
          </p:nvPr>
        </p:nvSpPr>
        <p:spPr>
          <a:xfrm flipH="1">
            <a:off x="2014856" y="3875244"/>
            <a:ext cx="4068000" cy="7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 sz="16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ubTitle" idx="2"/>
          </p:nvPr>
        </p:nvSpPr>
        <p:spPr>
          <a:xfrm flipH="1">
            <a:off x="2014951" y="2779667"/>
            <a:ext cx="4119200" cy="7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867">
                <a:solidFill>
                  <a:srgbClr val="5B3C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7262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2">
  <p:cSld name="Four columns 2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25"/>
          <p:cNvGrpSpPr/>
          <p:nvPr/>
        </p:nvGrpSpPr>
        <p:grpSpPr>
          <a:xfrm>
            <a:off x="8680199" y="2621218"/>
            <a:ext cx="2896807" cy="3613017"/>
            <a:chOff x="6510149" y="1949738"/>
            <a:chExt cx="2172605" cy="2709763"/>
          </a:xfrm>
        </p:grpSpPr>
        <p:sp>
          <p:nvSpPr>
            <p:cNvPr id="686" name="Google Shape;686;p25"/>
            <p:cNvSpPr/>
            <p:nvPr/>
          </p:nvSpPr>
          <p:spPr>
            <a:xfrm>
              <a:off x="6510149" y="4267946"/>
              <a:ext cx="120540" cy="388831"/>
            </a:xfrm>
            <a:custGeom>
              <a:avLst/>
              <a:gdLst/>
              <a:ahLst/>
              <a:cxnLst/>
              <a:rect l="l" t="t" r="r" b="b"/>
              <a:pathLst>
                <a:path w="3761" h="12132" extrusionOk="0">
                  <a:moveTo>
                    <a:pt x="3760" y="1"/>
                  </a:moveTo>
                  <a:lnTo>
                    <a:pt x="1" y="135"/>
                  </a:lnTo>
                  <a:lnTo>
                    <a:pt x="1" y="12131"/>
                  </a:lnTo>
                  <a:lnTo>
                    <a:pt x="1605" y="12131"/>
                  </a:lnTo>
                  <a:lnTo>
                    <a:pt x="376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25"/>
            <p:cNvSpPr/>
            <p:nvPr/>
          </p:nvSpPr>
          <p:spPr>
            <a:xfrm>
              <a:off x="7592958" y="2586860"/>
              <a:ext cx="93201" cy="30960"/>
            </a:xfrm>
            <a:custGeom>
              <a:avLst/>
              <a:gdLst/>
              <a:ahLst/>
              <a:cxnLst/>
              <a:rect l="l" t="t" r="r" b="b"/>
              <a:pathLst>
                <a:path w="2908" h="966" extrusionOk="0">
                  <a:moveTo>
                    <a:pt x="2875" y="1"/>
                  </a:moveTo>
                  <a:cubicBezTo>
                    <a:pt x="2771" y="1"/>
                    <a:pt x="2159" y="176"/>
                    <a:pt x="1421" y="423"/>
                  </a:cubicBezTo>
                  <a:cubicBezTo>
                    <a:pt x="635" y="690"/>
                    <a:pt x="0" y="924"/>
                    <a:pt x="0" y="957"/>
                  </a:cubicBezTo>
                  <a:cubicBezTo>
                    <a:pt x="2" y="963"/>
                    <a:pt x="12" y="966"/>
                    <a:pt x="29" y="966"/>
                  </a:cubicBezTo>
                  <a:cubicBezTo>
                    <a:pt x="164" y="966"/>
                    <a:pt x="758" y="794"/>
                    <a:pt x="1471" y="556"/>
                  </a:cubicBezTo>
                  <a:cubicBezTo>
                    <a:pt x="2273" y="289"/>
                    <a:pt x="2908" y="38"/>
                    <a:pt x="2891" y="5"/>
                  </a:cubicBezTo>
                  <a:cubicBezTo>
                    <a:pt x="2890" y="2"/>
                    <a:pt x="2884" y="1"/>
                    <a:pt x="287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25"/>
            <p:cNvSpPr/>
            <p:nvPr/>
          </p:nvSpPr>
          <p:spPr>
            <a:xfrm>
              <a:off x="6977662" y="4267946"/>
              <a:ext cx="119963" cy="388831"/>
            </a:xfrm>
            <a:custGeom>
              <a:avLst/>
              <a:gdLst/>
              <a:ahLst/>
              <a:cxnLst/>
              <a:rect l="l" t="t" r="r" b="b"/>
              <a:pathLst>
                <a:path w="3743" h="12132" extrusionOk="0">
                  <a:moveTo>
                    <a:pt x="3743" y="1"/>
                  </a:moveTo>
                  <a:lnTo>
                    <a:pt x="0" y="135"/>
                  </a:lnTo>
                  <a:lnTo>
                    <a:pt x="0" y="12131"/>
                  </a:lnTo>
                  <a:lnTo>
                    <a:pt x="1604" y="12131"/>
                  </a:lnTo>
                  <a:lnTo>
                    <a:pt x="374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7441394" y="4267946"/>
              <a:ext cx="120540" cy="388831"/>
            </a:xfrm>
            <a:custGeom>
              <a:avLst/>
              <a:gdLst/>
              <a:ahLst/>
              <a:cxnLst/>
              <a:rect l="l" t="t" r="r" b="b"/>
              <a:pathLst>
                <a:path w="3761" h="12132" extrusionOk="0">
                  <a:moveTo>
                    <a:pt x="1" y="1"/>
                  </a:moveTo>
                  <a:lnTo>
                    <a:pt x="2156" y="12131"/>
                  </a:lnTo>
                  <a:lnTo>
                    <a:pt x="3760" y="12131"/>
                  </a:lnTo>
                  <a:lnTo>
                    <a:pt x="3760" y="1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25"/>
            <p:cNvSpPr/>
            <p:nvPr/>
          </p:nvSpPr>
          <p:spPr>
            <a:xfrm>
              <a:off x="7769682" y="4267946"/>
              <a:ext cx="120508" cy="388831"/>
            </a:xfrm>
            <a:custGeom>
              <a:avLst/>
              <a:gdLst/>
              <a:ahLst/>
              <a:cxnLst/>
              <a:rect l="l" t="t" r="r" b="b"/>
              <a:pathLst>
                <a:path w="3760" h="12132" extrusionOk="0">
                  <a:moveTo>
                    <a:pt x="0" y="1"/>
                  </a:moveTo>
                  <a:lnTo>
                    <a:pt x="2156" y="12131"/>
                  </a:lnTo>
                  <a:lnTo>
                    <a:pt x="3760" y="12131"/>
                  </a:lnTo>
                  <a:lnTo>
                    <a:pt x="3760" y="1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25"/>
            <p:cNvSpPr/>
            <p:nvPr/>
          </p:nvSpPr>
          <p:spPr>
            <a:xfrm>
              <a:off x="6510149" y="3406827"/>
              <a:ext cx="375979" cy="873907"/>
            </a:xfrm>
            <a:custGeom>
              <a:avLst/>
              <a:gdLst/>
              <a:ahLst/>
              <a:cxnLst/>
              <a:rect l="l" t="t" r="r" b="b"/>
              <a:pathLst>
                <a:path w="11731" h="27267" extrusionOk="0">
                  <a:moveTo>
                    <a:pt x="5548" y="0"/>
                  </a:moveTo>
                  <a:cubicBezTo>
                    <a:pt x="4075" y="0"/>
                    <a:pt x="2636" y="293"/>
                    <a:pt x="1939" y="1271"/>
                  </a:cubicBezTo>
                  <a:cubicBezTo>
                    <a:pt x="184" y="3711"/>
                    <a:pt x="1" y="27170"/>
                    <a:pt x="1" y="27170"/>
                  </a:cubicBezTo>
                  <a:cubicBezTo>
                    <a:pt x="1" y="27170"/>
                    <a:pt x="5028" y="27266"/>
                    <a:pt x="8439" y="27266"/>
                  </a:cubicBezTo>
                  <a:cubicBezTo>
                    <a:pt x="10145" y="27266"/>
                    <a:pt x="11446" y="27242"/>
                    <a:pt x="11513" y="27170"/>
                  </a:cubicBezTo>
                  <a:cubicBezTo>
                    <a:pt x="11730" y="26969"/>
                    <a:pt x="10026" y="653"/>
                    <a:pt x="10026" y="653"/>
                  </a:cubicBezTo>
                  <a:cubicBezTo>
                    <a:pt x="10026" y="653"/>
                    <a:pt x="7748" y="0"/>
                    <a:pt x="55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804144" y="2531830"/>
              <a:ext cx="1086046" cy="1608718"/>
            </a:xfrm>
            <a:custGeom>
              <a:avLst/>
              <a:gdLst/>
              <a:ahLst/>
              <a:cxnLst/>
              <a:rect l="l" t="t" r="r" b="b"/>
              <a:pathLst>
                <a:path w="33886" h="50194" extrusionOk="0">
                  <a:moveTo>
                    <a:pt x="24423" y="1"/>
                  </a:moveTo>
                  <a:cubicBezTo>
                    <a:pt x="24403" y="1"/>
                    <a:pt x="24382" y="1"/>
                    <a:pt x="24362" y="1"/>
                  </a:cubicBezTo>
                  <a:lnTo>
                    <a:pt x="9424" y="1"/>
                  </a:lnTo>
                  <a:cubicBezTo>
                    <a:pt x="4195" y="1"/>
                    <a:pt x="1" y="4295"/>
                    <a:pt x="118" y="9525"/>
                  </a:cubicBezTo>
                  <a:lnTo>
                    <a:pt x="1070" y="50193"/>
                  </a:lnTo>
                  <a:lnTo>
                    <a:pt x="33568" y="50193"/>
                  </a:lnTo>
                  <a:lnTo>
                    <a:pt x="33836" y="9491"/>
                  </a:lnTo>
                  <a:cubicBezTo>
                    <a:pt x="33885" y="4265"/>
                    <a:pt x="29658" y="1"/>
                    <a:pt x="24423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572262" y="3855335"/>
              <a:ext cx="1307768" cy="420143"/>
            </a:xfrm>
            <a:custGeom>
              <a:avLst/>
              <a:gdLst/>
              <a:ahLst/>
              <a:cxnLst/>
              <a:rect l="l" t="t" r="r" b="b"/>
              <a:pathLst>
                <a:path w="40804" h="13109" extrusionOk="0">
                  <a:moveTo>
                    <a:pt x="19728" y="0"/>
                  </a:moveTo>
                  <a:cubicBezTo>
                    <a:pt x="13401" y="0"/>
                    <a:pt x="6918" y="126"/>
                    <a:pt x="6918" y="126"/>
                  </a:cubicBezTo>
                  <a:cubicBezTo>
                    <a:pt x="6918" y="126"/>
                    <a:pt x="452" y="377"/>
                    <a:pt x="1" y="8380"/>
                  </a:cubicBezTo>
                  <a:lnTo>
                    <a:pt x="1" y="13109"/>
                  </a:lnTo>
                  <a:lnTo>
                    <a:pt x="40803" y="13109"/>
                  </a:lnTo>
                  <a:lnTo>
                    <a:pt x="40803" y="8898"/>
                  </a:lnTo>
                  <a:cubicBezTo>
                    <a:pt x="40803" y="8898"/>
                    <a:pt x="35039" y="410"/>
                    <a:pt x="28272" y="126"/>
                  </a:cubicBezTo>
                  <a:cubicBezTo>
                    <a:pt x="26016" y="32"/>
                    <a:pt x="22892" y="0"/>
                    <a:pt x="1972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554057" y="3855014"/>
              <a:ext cx="907207" cy="413125"/>
            </a:xfrm>
            <a:custGeom>
              <a:avLst/>
              <a:gdLst/>
              <a:ahLst/>
              <a:cxnLst/>
              <a:rect l="l" t="t" r="r" b="b"/>
              <a:pathLst>
                <a:path w="28306" h="12890" extrusionOk="0">
                  <a:moveTo>
                    <a:pt x="9133" y="0"/>
                  </a:moveTo>
                  <a:cubicBezTo>
                    <a:pt x="7145" y="0"/>
                    <a:pt x="5217" y="133"/>
                    <a:pt x="3543" y="1423"/>
                  </a:cubicBezTo>
                  <a:cubicBezTo>
                    <a:pt x="385" y="3896"/>
                    <a:pt x="1" y="9059"/>
                    <a:pt x="335" y="12751"/>
                  </a:cubicBezTo>
                  <a:cubicBezTo>
                    <a:pt x="343" y="12843"/>
                    <a:pt x="414" y="12889"/>
                    <a:pt x="483" y="12889"/>
                  </a:cubicBezTo>
                  <a:cubicBezTo>
                    <a:pt x="552" y="12889"/>
                    <a:pt x="619" y="12843"/>
                    <a:pt x="619" y="12751"/>
                  </a:cubicBezTo>
                  <a:cubicBezTo>
                    <a:pt x="218" y="8357"/>
                    <a:pt x="953" y="1958"/>
                    <a:pt x="5932" y="554"/>
                  </a:cubicBezTo>
                  <a:cubicBezTo>
                    <a:pt x="6831" y="299"/>
                    <a:pt x="7809" y="238"/>
                    <a:pt x="8789" y="238"/>
                  </a:cubicBezTo>
                  <a:cubicBezTo>
                    <a:pt x="9668" y="238"/>
                    <a:pt x="10550" y="287"/>
                    <a:pt x="11379" y="287"/>
                  </a:cubicBezTo>
                  <a:lnTo>
                    <a:pt x="28121" y="387"/>
                  </a:lnTo>
                  <a:cubicBezTo>
                    <a:pt x="28305" y="370"/>
                    <a:pt x="28305" y="103"/>
                    <a:pt x="28121" y="103"/>
                  </a:cubicBezTo>
                  <a:cubicBezTo>
                    <a:pt x="21973" y="70"/>
                    <a:pt x="15807" y="36"/>
                    <a:pt x="9658" y="3"/>
                  </a:cubicBezTo>
                  <a:cubicBezTo>
                    <a:pt x="9483" y="1"/>
                    <a:pt x="9308" y="0"/>
                    <a:pt x="913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55708" y="2557534"/>
              <a:ext cx="706895" cy="844005"/>
            </a:xfrm>
            <a:custGeom>
              <a:avLst/>
              <a:gdLst/>
              <a:ahLst/>
              <a:cxnLst/>
              <a:rect l="l" t="t" r="r" b="b"/>
              <a:pathLst>
                <a:path w="22056" h="26334" extrusionOk="0">
                  <a:moveTo>
                    <a:pt x="6416" y="1"/>
                  </a:moveTo>
                  <a:cubicBezTo>
                    <a:pt x="4428" y="18"/>
                    <a:pt x="2807" y="68"/>
                    <a:pt x="1705" y="168"/>
                  </a:cubicBezTo>
                  <a:cubicBezTo>
                    <a:pt x="1420" y="201"/>
                    <a:pt x="1187" y="235"/>
                    <a:pt x="969" y="252"/>
                  </a:cubicBezTo>
                  <a:cubicBezTo>
                    <a:pt x="752" y="285"/>
                    <a:pt x="568" y="318"/>
                    <a:pt x="435" y="335"/>
                  </a:cubicBezTo>
                  <a:cubicBezTo>
                    <a:pt x="284" y="369"/>
                    <a:pt x="134" y="419"/>
                    <a:pt x="0" y="469"/>
                  </a:cubicBezTo>
                  <a:cubicBezTo>
                    <a:pt x="34" y="469"/>
                    <a:pt x="67" y="452"/>
                    <a:pt x="117" y="452"/>
                  </a:cubicBezTo>
                  <a:cubicBezTo>
                    <a:pt x="184" y="435"/>
                    <a:pt x="284" y="402"/>
                    <a:pt x="435" y="369"/>
                  </a:cubicBezTo>
                  <a:lnTo>
                    <a:pt x="969" y="302"/>
                  </a:lnTo>
                  <a:cubicBezTo>
                    <a:pt x="1187" y="285"/>
                    <a:pt x="1420" y="252"/>
                    <a:pt x="1705" y="235"/>
                  </a:cubicBezTo>
                  <a:cubicBezTo>
                    <a:pt x="2679" y="162"/>
                    <a:pt x="4022" y="115"/>
                    <a:pt x="5665" y="115"/>
                  </a:cubicBezTo>
                  <a:cubicBezTo>
                    <a:pt x="5909" y="115"/>
                    <a:pt x="6159" y="116"/>
                    <a:pt x="6416" y="118"/>
                  </a:cubicBezTo>
                  <a:cubicBezTo>
                    <a:pt x="7419" y="118"/>
                    <a:pt x="8505" y="118"/>
                    <a:pt x="9674" y="151"/>
                  </a:cubicBezTo>
                  <a:cubicBezTo>
                    <a:pt x="10844" y="185"/>
                    <a:pt x="12097" y="151"/>
                    <a:pt x="13401" y="335"/>
                  </a:cubicBezTo>
                  <a:cubicBezTo>
                    <a:pt x="14069" y="402"/>
                    <a:pt x="14737" y="536"/>
                    <a:pt x="15389" y="686"/>
                  </a:cubicBezTo>
                  <a:cubicBezTo>
                    <a:pt x="16074" y="853"/>
                    <a:pt x="16726" y="1087"/>
                    <a:pt x="17360" y="1388"/>
                  </a:cubicBezTo>
                  <a:cubicBezTo>
                    <a:pt x="17995" y="1739"/>
                    <a:pt x="18563" y="2173"/>
                    <a:pt x="19081" y="2691"/>
                  </a:cubicBezTo>
                  <a:cubicBezTo>
                    <a:pt x="19616" y="3209"/>
                    <a:pt x="20067" y="3810"/>
                    <a:pt x="20418" y="4462"/>
                  </a:cubicBezTo>
                  <a:cubicBezTo>
                    <a:pt x="20585" y="4796"/>
                    <a:pt x="20719" y="5147"/>
                    <a:pt x="20819" y="5498"/>
                  </a:cubicBezTo>
                  <a:cubicBezTo>
                    <a:pt x="20903" y="5866"/>
                    <a:pt x="20953" y="6233"/>
                    <a:pt x="20986" y="6601"/>
                  </a:cubicBezTo>
                  <a:cubicBezTo>
                    <a:pt x="21070" y="7336"/>
                    <a:pt x="21153" y="8054"/>
                    <a:pt x="21220" y="8773"/>
                  </a:cubicBezTo>
                  <a:cubicBezTo>
                    <a:pt x="21354" y="10193"/>
                    <a:pt x="21454" y="11580"/>
                    <a:pt x="21554" y="12883"/>
                  </a:cubicBezTo>
                  <a:cubicBezTo>
                    <a:pt x="21721" y="15523"/>
                    <a:pt x="21805" y="17896"/>
                    <a:pt x="21872" y="19884"/>
                  </a:cubicBezTo>
                  <a:cubicBezTo>
                    <a:pt x="21922" y="21872"/>
                    <a:pt x="21955" y="23476"/>
                    <a:pt x="21989" y="24596"/>
                  </a:cubicBezTo>
                  <a:cubicBezTo>
                    <a:pt x="22005" y="25147"/>
                    <a:pt x="22022" y="25582"/>
                    <a:pt x="22022" y="25882"/>
                  </a:cubicBezTo>
                  <a:cubicBezTo>
                    <a:pt x="22039" y="26016"/>
                    <a:pt x="22039" y="26133"/>
                    <a:pt x="22039" y="26217"/>
                  </a:cubicBezTo>
                  <a:cubicBezTo>
                    <a:pt x="22039" y="26250"/>
                    <a:pt x="22039" y="26283"/>
                    <a:pt x="22056" y="26334"/>
                  </a:cubicBezTo>
                  <a:cubicBezTo>
                    <a:pt x="22056" y="26283"/>
                    <a:pt x="22056" y="26250"/>
                    <a:pt x="22056" y="26217"/>
                  </a:cubicBezTo>
                  <a:cubicBezTo>
                    <a:pt x="22056" y="26133"/>
                    <a:pt x="22056" y="26016"/>
                    <a:pt x="22056" y="25882"/>
                  </a:cubicBezTo>
                  <a:cubicBezTo>
                    <a:pt x="22056" y="25582"/>
                    <a:pt x="22056" y="25147"/>
                    <a:pt x="22039" y="24596"/>
                  </a:cubicBezTo>
                  <a:cubicBezTo>
                    <a:pt x="22039" y="23476"/>
                    <a:pt x="22022" y="21872"/>
                    <a:pt x="21972" y="19867"/>
                  </a:cubicBezTo>
                  <a:cubicBezTo>
                    <a:pt x="21922" y="17879"/>
                    <a:pt x="21838" y="15506"/>
                    <a:pt x="21688" y="12883"/>
                  </a:cubicBezTo>
                  <a:cubicBezTo>
                    <a:pt x="21604" y="11563"/>
                    <a:pt x="21487" y="10176"/>
                    <a:pt x="21354" y="8756"/>
                  </a:cubicBezTo>
                  <a:cubicBezTo>
                    <a:pt x="21287" y="8038"/>
                    <a:pt x="21220" y="7319"/>
                    <a:pt x="21120" y="6584"/>
                  </a:cubicBezTo>
                  <a:cubicBezTo>
                    <a:pt x="21103" y="6200"/>
                    <a:pt x="21036" y="5832"/>
                    <a:pt x="20953" y="5465"/>
                  </a:cubicBezTo>
                  <a:cubicBezTo>
                    <a:pt x="20853" y="5097"/>
                    <a:pt x="20719" y="4729"/>
                    <a:pt x="20535" y="4395"/>
                  </a:cubicBezTo>
                  <a:cubicBezTo>
                    <a:pt x="20184" y="3727"/>
                    <a:pt x="19716" y="3109"/>
                    <a:pt x="19182" y="2591"/>
                  </a:cubicBezTo>
                  <a:cubicBezTo>
                    <a:pt x="18664" y="2056"/>
                    <a:pt x="18062" y="1622"/>
                    <a:pt x="17427" y="1271"/>
                  </a:cubicBezTo>
                  <a:cubicBezTo>
                    <a:pt x="16776" y="953"/>
                    <a:pt x="16107" y="719"/>
                    <a:pt x="15422" y="552"/>
                  </a:cubicBezTo>
                  <a:cubicBezTo>
                    <a:pt x="14771" y="402"/>
                    <a:pt x="14102" y="268"/>
                    <a:pt x="13417" y="201"/>
                  </a:cubicBezTo>
                  <a:cubicBezTo>
                    <a:pt x="12114" y="18"/>
                    <a:pt x="10844" y="51"/>
                    <a:pt x="9674" y="18"/>
                  </a:cubicBezTo>
                  <a:cubicBezTo>
                    <a:pt x="8505" y="1"/>
                    <a:pt x="7419" y="1"/>
                    <a:pt x="64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646514" y="2915500"/>
              <a:ext cx="74997" cy="26313"/>
            </a:xfrm>
            <a:custGeom>
              <a:avLst/>
              <a:gdLst/>
              <a:ahLst/>
              <a:cxnLst/>
              <a:rect l="l" t="t" r="r" b="b"/>
              <a:pathLst>
                <a:path w="2340" h="821" extrusionOk="0">
                  <a:moveTo>
                    <a:pt x="2311" y="1"/>
                  </a:moveTo>
                  <a:cubicBezTo>
                    <a:pt x="2192" y="1"/>
                    <a:pt x="1711" y="153"/>
                    <a:pt x="1153" y="344"/>
                  </a:cubicBezTo>
                  <a:cubicBezTo>
                    <a:pt x="502" y="561"/>
                    <a:pt x="0" y="779"/>
                    <a:pt x="17" y="812"/>
                  </a:cubicBezTo>
                  <a:cubicBezTo>
                    <a:pt x="19" y="818"/>
                    <a:pt x="28" y="821"/>
                    <a:pt x="44" y="821"/>
                  </a:cubicBezTo>
                  <a:cubicBezTo>
                    <a:pt x="161" y="821"/>
                    <a:pt x="631" y="669"/>
                    <a:pt x="1203" y="478"/>
                  </a:cubicBezTo>
                  <a:cubicBezTo>
                    <a:pt x="1838" y="261"/>
                    <a:pt x="2339" y="43"/>
                    <a:pt x="2339" y="10"/>
                  </a:cubicBezTo>
                  <a:cubicBezTo>
                    <a:pt x="2337" y="4"/>
                    <a:pt x="2328" y="1"/>
                    <a:pt x="231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7647059" y="2987356"/>
              <a:ext cx="33749" cy="4743"/>
            </a:xfrm>
            <a:custGeom>
              <a:avLst/>
              <a:gdLst/>
              <a:ahLst/>
              <a:cxnLst/>
              <a:rect l="l" t="t" r="r" b="b"/>
              <a:pathLst>
                <a:path w="1053" h="148" extrusionOk="0">
                  <a:moveTo>
                    <a:pt x="324" y="1"/>
                  </a:moveTo>
                  <a:cubicBezTo>
                    <a:pt x="132" y="1"/>
                    <a:pt x="0" y="19"/>
                    <a:pt x="0" y="57"/>
                  </a:cubicBezTo>
                  <a:cubicBezTo>
                    <a:pt x="0" y="90"/>
                    <a:pt x="234" y="141"/>
                    <a:pt x="518" y="141"/>
                  </a:cubicBezTo>
                  <a:cubicBezTo>
                    <a:pt x="599" y="145"/>
                    <a:pt x="674" y="147"/>
                    <a:pt x="742" y="147"/>
                  </a:cubicBezTo>
                  <a:cubicBezTo>
                    <a:pt x="927" y="147"/>
                    <a:pt x="1053" y="132"/>
                    <a:pt x="1053" y="107"/>
                  </a:cubicBezTo>
                  <a:cubicBezTo>
                    <a:pt x="1053" y="57"/>
                    <a:pt x="819" y="24"/>
                    <a:pt x="535" y="7"/>
                  </a:cubicBezTo>
                  <a:cubicBezTo>
                    <a:pt x="459" y="3"/>
                    <a:pt x="388" y="1"/>
                    <a:pt x="3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7353577" y="2960787"/>
              <a:ext cx="47690" cy="45575"/>
            </a:xfrm>
            <a:custGeom>
              <a:avLst/>
              <a:gdLst/>
              <a:ahLst/>
              <a:cxnLst/>
              <a:rect l="l" t="t" r="r" b="b"/>
              <a:pathLst>
                <a:path w="1488" h="1422" extrusionOk="0">
                  <a:moveTo>
                    <a:pt x="652" y="0"/>
                  </a:moveTo>
                  <a:lnTo>
                    <a:pt x="652" y="0"/>
                  </a:lnTo>
                  <a:cubicBezTo>
                    <a:pt x="652" y="0"/>
                    <a:pt x="585" y="0"/>
                    <a:pt x="485" y="34"/>
                  </a:cubicBezTo>
                  <a:cubicBezTo>
                    <a:pt x="352" y="84"/>
                    <a:pt x="218" y="201"/>
                    <a:pt x="151" y="318"/>
                  </a:cubicBezTo>
                  <a:cubicBezTo>
                    <a:pt x="17" y="518"/>
                    <a:pt x="1" y="769"/>
                    <a:pt x="101" y="986"/>
                  </a:cubicBezTo>
                  <a:cubicBezTo>
                    <a:pt x="213" y="1257"/>
                    <a:pt x="476" y="1422"/>
                    <a:pt x="747" y="1422"/>
                  </a:cubicBezTo>
                  <a:cubicBezTo>
                    <a:pt x="760" y="1422"/>
                    <a:pt x="773" y="1421"/>
                    <a:pt x="786" y="1421"/>
                  </a:cubicBezTo>
                  <a:cubicBezTo>
                    <a:pt x="1087" y="1387"/>
                    <a:pt x="1337" y="1187"/>
                    <a:pt x="1421" y="903"/>
                  </a:cubicBezTo>
                  <a:cubicBezTo>
                    <a:pt x="1488" y="669"/>
                    <a:pt x="1404" y="418"/>
                    <a:pt x="1204" y="251"/>
                  </a:cubicBezTo>
                  <a:cubicBezTo>
                    <a:pt x="1087" y="151"/>
                    <a:pt x="936" y="101"/>
                    <a:pt x="786" y="101"/>
                  </a:cubicBezTo>
                  <a:cubicBezTo>
                    <a:pt x="686" y="117"/>
                    <a:pt x="619" y="151"/>
                    <a:pt x="636" y="151"/>
                  </a:cubicBezTo>
                  <a:cubicBezTo>
                    <a:pt x="636" y="159"/>
                    <a:pt x="648" y="159"/>
                    <a:pt x="673" y="159"/>
                  </a:cubicBezTo>
                  <a:cubicBezTo>
                    <a:pt x="698" y="159"/>
                    <a:pt x="736" y="159"/>
                    <a:pt x="786" y="168"/>
                  </a:cubicBezTo>
                  <a:cubicBezTo>
                    <a:pt x="920" y="184"/>
                    <a:pt x="1053" y="234"/>
                    <a:pt x="1137" y="335"/>
                  </a:cubicBezTo>
                  <a:cubicBezTo>
                    <a:pt x="1287" y="468"/>
                    <a:pt x="1354" y="669"/>
                    <a:pt x="1287" y="853"/>
                  </a:cubicBezTo>
                  <a:cubicBezTo>
                    <a:pt x="1220" y="1087"/>
                    <a:pt x="1020" y="1254"/>
                    <a:pt x="786" y="1287"/>
                  </a:cubicBezTo>
                  <a:cubicBezTo>
                    <a:pt x="535" y="1287"/>
                    <a:pt x="318" y="1153"/>
                    <a:pt x="218" y="936"/>
                  </a:cubicBezTo>
                  <a:cubicBezTo>
                    <a:pt x="134" y="752"/>
                    <a:pt x="134" y="552"/>
                    <a:pt x="235" y="368"/>
                  </a:cubicBezTo>
                  <a:cubicBezTo>
                    <a:pt x="335" y="218"/>
                    <a:pt x="469" y="84"/>
                    <a:pt x="6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7345564" y="2844574"/>
              <a:ext cx="46056" cy="123745"/>
            </a:xfrm>
            <a:custGeom>
              <a:avLst/>
              <a:gdLst/>
              <a:ahLst/>
              <a:cxnLst/>
              <a:rect l="l" t="t" r="r" b="b"/>
              <a:pathLst>
                <a:path w="1437" h="3861" extrusionOk="0">
                  <a:moveTo>
                    <a:pt x="1420" y="1"/>
                  </a:moveTo>
                  <a:cubicBezTo>
                    <a:pt x="1421" y="3"/>
                    <a:pt x="1422" y="6"/>
                    <a:pt x="1421" y="9"/>
                  </a:cubicBezTo>
                  <a:lnTo>
                    <a:pt x="1421" y="9"/>
                  </a:lnTo>
                  <a:cubicBezTo>
                    <a:pt x="1426" y="6"/>
                    <a:pt x="1432" y="3"/>
                    <a:pt x="1437" y="1"/>
                  </a:cubicBezTo>
                  <a:close/>
                  <a:moveTo>
                    <a:pt x="1421" y="9"/>
                  </a:moveTo>
                  <a:cubicBezTo>
                    <a:pt x="1228" y="108"/>
                    <a:pt x="1066" y="239"/>
                    <a:pt x="936" y="402"/>
                  </a:cubicBezTo>
                  <a:cubicBezTo>
                    <a:pt x="201" y="1187"/>
                    <a:pt x="0" y="2323"/>
                    <a:pt x="401" y="3309"/>
                  </a:cubicBezTo>
                  <a:cubicBezTo>
                    <a:pt x="468" y="3509"/>
                    <a:pt x="568" y="3710"/>
                    <a:pt x="719" y="3860"/>
                  </a:cubicBezTo>
                  <a:cubicBezTo>
                    <a:pt x="752" y="3844"/>
                    <a:pt x="618" y="3643"/>
                    <a:pt x="485" y="3276"/>
                  </a:cubicBezTo>
                  <a:cubicBezTo>
                    <a:pt x="167" y="2323"/>
                    <a:pt x="351" y="1254"/>
                    <a:pt x="1003" y="469"/>
                  </a:cubicBezTo>
                  <a:cubicBezTo>
                    <a:pt x="1236" y="188"/>
                    <a:pt x="1412" y="53"/>
                    <a:pt x="1421" y="9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7348769" y="3002420"/>
              <a:ext cx="31633" cy="132431"/>
            </a:xfrm>
            <a:custGeom>
              <a:avLst/>
              <a:gdLst/>
              <a:ahLst/>
              <a:cxnLst/>
              <a:rect l="l" t="t" r="r" b="b"/>
              <a:pathLst>
                <a:path w="987" h="4132" extrusionOk="0">
                  <a:moveTo>
                    <a:pt x="919" y="1"/>
                  </a:moveTo>
                  <a:cubicBezTo>
                    <a:pt x="886" y="1"/>
                    <a:pt x="836" y="5"/>
                    <a:pt x="769" y="21"/>
                  </a:cubicBezTo>
                  <a:cubicBezTo>
                    <a:pt x="602" y="72"/>
                    <a:pt x="451" y="172"/>
                    <a:pt x="334" y="305"/>
                  </a:cubicBezTo>
                  <a:cubicBezTo>
                    <a:pt x="184" y="523"/>
                    <a:pt x="84" y="757"/>
                    <a:pt x="50" y="1024"/>
                  </a:cubicBezTo>
                  <a:cubicBezTo>
                    <a:pt x="17" y="1341"/>
                    <a:pt x="0" y="1642"/>
                    <a:pt x="34" y="1960"/>
                  </a:cubicBezTo>
                  <a:cubicBezTo>
                    <a:pt x="84" y="2528"/>
                    <a:pt x="268" y="3079"/>
                    <a:pt x="535" y="3564"/>
                  </a:cubicBezTo>
                  <a:cubicBezTo>
                    <a:pt x="652" y="3781"/>
                    <a:pt x="786" y="3965"/>
                    <a:pt x="953" y="4132"/>
                  </a:cubicBezTo>
                  <a:cubicBezTo>
                    <a:pt x="986" y="4115"/>
                    <a:pt x="819" y="3898"/>
                    <a:pt x="635" y="3530"/>
                  </a:cubicBezTo>
                  <a:cubicBezTo>
                    <a:pt x="385" y="3029"/>
                    <a:pt x="234" y="2494"/>
                    <a:pt x="184" y="1943"/>
                  </a:cubicBezTo>
                  <a:cubicBezTo>
                    <a:pt x="117" y="1308"/>
                    <a:pt x="167" y="706"/>
                    <a:pt x="418" y="372"/>
                  </a:cubicBezTo>
                  <a:cubicBezTo>
                    <a:pt x="552" y="189"/>
                    <a:pt x="752" y="55"/>
                    <a:pt x="969" y="5"/>
                  </a:cubicBezTo>
                  <a:cubicBezTo>
                    <a:pt x="969" y="5"/>
                    <a:pt x="953" y="1"/>
                    <a:pt x="91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7304316" y="2972581"/>
              <a:ext cx="47146" cy="9262"/>
            </a:xfrm>
            <a:custGeom>
              <a:avLst/>
              <a:gdLst/>
              <a:ahLst/>
              <a:cxnLst/>
              <a:rect l="l" t="t" r="r" b="b"/>
              <a:pathLst>
                <a:path w="1471" h="289" extrusionOk="0">
                  <a:moveTo>
                    <a:pt x="736" y="0"/>
                  </a:moveTo>
                  <a:cubicBezTo>
                    <a:pt x="285" y="0"/>
                    <a:pt x="1" y="251"/>
                    <a:pt x="34" y="284"/>
                  </a:cubicBezTo>
                  <a:cubicBezTo>
                    <a:pt x="35" y="287"/>
                    <a:pt x="39" y="288"/>
                    <a:pt x="44" y="288"/>
                  </a:cubicBezTo>
                  <a:cubicBezTo>
                    <a:pt x="99" y="288"/>
                    <a:pt x="368" y="134"/>
                    <a:pt x="736" y="134"/>
                  </a:cubicBezTo>
                  <a:cubicBezTo>
                    <a:pt x="1100" y="134"/>
                    <a:pt x="1368" y="272"/>
                    <a:pt x="1426" y="272"/>
                  </a:cubicBezTo>
                  <a:cubicBezTo>
                    <a:pt x="1432" y="272"/>
                    <a:pt x="1436" y="270"/>
                    <a:pt x="1437" y="267"/>
                  </a:cubicBezTo>
                  <a:cubicBezTo>
                    <a:pt x="1471" y="251"/>
                    <a:pt x="1187" y="0"/>
                    <a:pt x="73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048877" y="2960787"/>
              <a:ext cx="47690" cy="45575"/>
            </a:xfrm>
            <a:custGeom>
              <a:avLst/>
              <a:gdLst/>
              <a:ahLst/>
              <a:cxnLst/>
              <a:rect l="l" t="t" r="r" b="b"/>
              <a:pathLst>
                <a:path w="1488" h="1422" extrusionOk="0">
                  <a:moveTo>
                    <a:pt x="652" y="0"/>
                  </a:moveTo>
                  <a:cubicBezTo>
                    <a:pt x="652" y="0"/>
                    <a:pt x="585" y="0"/>
                    <a:pt x="485" y="34"/>
                  </a:cubicBezTo>
                  <a:cubicBezTo>
                    <a:pt x="351" y="84"/>
                    <a:pt x="234" y="201"/>
                    <a:pt x="151" y="318"/>
                  </a:cubicBezTo>
                  <a:cubicBezTo>
                    <a:pt x="17" y="518"/>
                    <a:pt x="1" y="769"/>
                    <a:pt x="101" y="986"/>
                  </a:cubicBezTo>
                  <a:cubicBezTo>
                    <a:pt x="212" y="1257"/>
                    <a:pt x="476" y="1422"/>
                    <a:pt x="761" y="1422"/>
                  </a:cubicBezTo>
                  <a:cubicBezTo>
                    <a:pt x="775" y="1422"/>
                    <a:pt x="789" y="1421"/>
                    <a:pt x="803" y="1421"/>
                  </a:cubicBezTo>
                  <a:cubicBezTo>
                    <a:pt x="1087" y="1387"/>
                    <a:pt x="1337" y="1187"/>
                    <a:pt x="1421" y="903"/>
                  </a:cubicBezTo>
                  <a:cubicBezTo>
                    <a:pt x="1488" y="652"/>
                    <a:pt x="1404" y="418"/>
                    <a:pt x="1220" y="251"/>
                  </a:cubicBezTo>
                  <a:cubicBezTo>
                    <a:pt x="1103" y="151"/>
                    <a:pt x="936" y="101"/>
                    <a:pt x="786" y="101"/>
                  </a:cubicBezTo>
                  <a:cubicBezTo>
                    <a:pt x="686" y="117"/>
                    <a:pt x="635" y="151"/>
                    <a:pt x="635" y="151"/>
                  </a:cubicBezTo>
                  <a:cubicBezTo>
                    <a:pt x="635" y="159"/>
                    <a:pt x="648" y="159"/>
                    <a:pt x="673" y="159"/>
                  </a:cubicBezTo>
                  <a:cubicBezTo>
                    <a:pt x="698" y="159"/>
                    <a:pt x="736" y="159"/>
                    <a:pt x="786" y="168"/>
                  </a:cubicBezTo>
                  <a:cubicBezTo>
                    <a:pt x="919" y="184"/>
                    <a:pt x="1053" y="234"/>
                    <a:pt x="1153" y="335"/>
                  </a:cubicBezTo>
                  <a:cubicBezTo>
                    <a:pt x="1287" y="468"/>
                    <a:pt x="1354" y="669"/>
                    <a:pt x="1287" y="853"/>
                  </a:cubicBezTo>
                  <a:cubicBezTo>
                    <a:pt x="1220" y="1087"/>
                    <a:pt x="1020" y="1254"/>
                    <a:pt x="786" y="1287"/>
                  </a:cubicBezTo>
                  <a:cubicBezTo>
                    <a:pt x="552" y="1287"/>
                    <a:pt x="318" y="1153"/>
                    <a:pt x="218" y="936"/>
                  </a:cubicBezTo>
                  <a:cubicBezTo>
                    <a:pt x="134" y="752"/>
                    <a:pt x="134" y="552"/>
                    <a:pt x="234" y="368"/>
                  </a:cubicBezTo>
                  <a:cubicBezTo>
                    <a:pt x="335" y="218"/>
                    <a:pt x="468" y="84"/>
                    <a:pt x="6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7040833" y="2844574"/>
              <a:ext cx="46088" cy="123745"/>
            </a:xfrm>
            <a:custGeom>
              <a:avLst/>
              <a:gdLst/>
              <a:ahLst/>
              <a:cxnLst/>
              <a:rect l="l" t="t" r="r" b="b"/>
              <a:pathLst>
                <a:path w="1438" h="3861" extrusionOk="0">
                  <a:moveTo>
                    <a:pt x="1438" y="1"/>
                  </a:moveTo>
                  <a:lnTo>
                    <a:pt x="1438" y="1"/>
                  </a:lnTo>
                  <a:cubicBezTo>
                    <a:pt x="1237" y="101"/>
                    <a:pt x="1070" y="235"/>
                    <a:pt x="937" y="402"/>
                  </a:cubicBezTo>
                  <a:cubicBezTo>
                    <a:pt x="201" y="1187"/>
                    <a:pt x="1" y="2323"/>
                    <a:pt x="402" y="3309"/>
                  </a:cubicBezTo>
                  <a:cubicBezTo>
                    <a:pt x="469" y="3509"/>
                    <a:pt x="569" y="3710"/>
                    <a:pt x="719" y="3860"/>
                  </a:cubicBezTo>
                  <a:cubicBezTo>
                    <a:pt x="753" y="3844"/>
                    <a:pt x="619" y="3643"/>
                    <a:pt x="485" y="3276"/>
                  </a:cubicBezTo>
                  <a:cubicBezTo>
                    <a:pt x="168" y="2323"/>
                    <a:pt x="352" y="1254"/>
                    <a:pt x="1003" y="469"/>
                  </a:cubicBezTo>
                  <a:cubicBezTo>
                    <a:pt x="1254" y="168"/>
                    <a:pt x="1438" y="34"/>
                    <a:pt x="1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7044070" y="3002420"/>
              <a:ext cx="31601" cy="132431"/>
            </a:xfrm>
            <a:custGeom>
              <a:avLst/>
              <a:gdLst/>
              <a:ahLst/>
              <a:cxnLst/>
              <a:rect l="l" t="t" r="r" b="b"/>
              <a:pathLst>
                <a:path w="986" h="4132" extrusionOk="0">
                  <a:moveTo>
                    <a:pt x="919" y="1"/>
                  </a:moveTo>
                  <a:cubicBezTo>
                    <a:pt x="886" y="1"/>
                    <a:pt x="836" y="5"/>
                    <a:pt x="769" y="21"/>
                  </a:cubicBezTo>
                  <a:cubicBezTo>
                    <a:pt x="602" y="72"/>
                    <a:pt x="451" y="172"/>
                    <a:pt x="351" y="305"/>
                  </a:cubicBezTo>
                  <a:cubicBezTo>
                    <a:pt x="184" y="523"/>
                    <a:pt x="84" y="757"/>
                    <a:pt x="50" y="1024"/>
                  </a:cubicBezTo>
                  <a:cubicBezTo>
                    <a:pt x="17" y="1341"/>
                    <a:pt x="0" y="1642"/>
                    <a:pt x="34" y="1960"/>
                  </a:cubicBezTo>
                  <a:cubicBezTo>
                    <a:pt x="84" y="2528"/>
                    <a:pt x="267" y="3079"/>
                    <a:pt x="552" y="3564"/>
                  </a:cubicBezTo>
                  <a:cubicBezTo>
                    <a:pt x="652" y="3781"/>
                    <a:pt x="785" y="3965"/>
                    <a:pt x="969" y="4132"/>
                  </a:cubicBezTo>
                  <a:cubicBezTo>
                    <a:pt x="986" y="4115"/>
                    <a:pt x="819" y="3898"/>
                    <a:pt x="635" y="3530"/>
                  </a:cubicBezTo>
                  <a:cubicBezTo>
                    <a:pt x="384" y="3029"/>
                    <a:pt x="234" y="2494"/>
                    <a:pt x="184" y="1943"/>
                  </a:cubicBezTo>
                  <a:cubicBezTo>
                    <a:pt x="117" y="1308"/>
                    <a:pt x="167" y="706"/>
                    <a:pt x="418" y="372"/>
                  </a:cubicBezTo>
                  <a:cubicBezTo>
                    <a:pt x="552" y="189"/>
                    <a:pt x="752" y="55"/>
                    <a:pt x="969" y="5"/>
                  </a:cubicBezTo>
                  <a:cubicBezTo>
                    <a:pt x="969" y="5"/>
                    <a:pt x="953" y="1"/>
                    <a:pt x="91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999616" y="2972581"/>
              <a:ext cx="47146" cy="9262"/>
            </a:xfrm>
            <a:custGeom>
              <a:avLst/>
              <a:gdLst/>
              <a:ahLst/>
              <a:cxnLst/>
              <a:rect l="l" t="t" r="r" b="b"/>
              <a:pathLst>
                <a:path w="1471" h="289" extrusionOk="0">
                  <a:moveTo>
                    <a:pt x="736" y="0"/>
                  </a:moveTo>
                  <a:cubicBezTo>
                    <a:pt x="284" y="0"/>
                    <a:pt x="0" y="251"/>
                    <a:pt x="34" y="284"/>
                  </a:cubicBezTo>
                  <a:cubicBezTo>
                    <a:pt x="35" y="287"/>
                    <a:pt x="39" y="288"/>
                    <a:pt x="44" y="288"/>
                  </a:cubicBezTo>
                  <a:cubicBezTo>
                    <a:pt x="101" y="288"/>
                    <a:pt x="383" y="134"/>
                    <a:pt x="736" y="134"/>
                  </a:cubicBezTo>
                  <a:cubicBezTo>
                    <a:pt x="1100" y="134"/>
                    <a:pt x="1368" y="272"/>
                    <a:pt x="1426" y="272"/>
                  </a:cubicBezTo>
                  <a:cubicBezTo>
                    <a:pt x="1432" y="272"/>
                    <a:pt x="1436" y="270"/>
                    <a:pt x="1437" y="267"/>
                  </a:cubicBezTo>
                  <a:cubicBezTo>
                    <a:pt x="1471" y="251"/>
                    <a:pt x="1187" y="0"/>
                    <a:pt x="73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7441394" y="3389904"/>
              <a:ext cx="450943" cy="895573"/>
            </a:xfrm>
            <a:custGeom>
              <a:avLst/>
              <a:gdLst/>
              <a:ahLst/>
              <a:cxnLst/>
              <a:rect l="l" t="t" r="r" b="b"/>
              <a:pathLst>
                <a:path w="14070" h="27943" extrusionOk="0">
                  <a:moveTo>
                    <a:pt x="6802" y="1"/>
                  </a:moveTo>
                  <a:cubicBezTo>
                    <a:pt x="4711" y="1"/>
                    <a:pt x="2768" y="395"/>
                    <a:pt x="2073" y="1699"/>
                  </a:cubicBezTo>
                  <a:cubicBezTo>
                    <a:pt x="318" y="5008"/>
                    <a:pt x="1" y="27731"/>
                    <a:pt x="1" y="27731"/>
                  </a:cubicBezTo>
                  <a:cubicBezTo>
                    <a:pt x="1" y="27731"/>
                    <a:pt x="5721" y="27943"/>
                    <a:pt x="9858" y="27943"/>
                  </a:cubicBezTo>
                  <a:cubicBezTo>
                    <a:pt x="12193" y="27943"/>
                    <a:pt x="14024" y="27875"/>
                    <a:pt x="14036" y="27664"/>
                  </a:cubicBezTo>
                  <a:cubicBezTo>
                    <a:pt x="14070" y="27063"/>
                    <a:pt x="13501" y="914"/>
                    <a:pt x="13501" y="914"/>
                  </a:cubicBezTo>
                  <a:lnTo>
                    <a:pt x="13518" y="914"/>
                  </a:lnTo>
                  <a:cubicBezTo>
                    <a:pt x="13518" y="914"/>
                    <a:pt x="9987" y="1"/>
                    <a:pt x="680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7559209" y="3398398"/>
              <a:ext cx="340627" cy="889259"/>
            </a:xfrm>
            <a:custGeom>
              <a:avLst/>
              <a:gdLst/>
              <a:ahLst/>
              <a:cxnLst/>
              <a:rect l="l" t="t" r="r" b="b"/>
              <a:pathLst>
                <a:path w="10628" h="27746" extrusionOk="0">
                  <a:moveTo>
                    <a:pt x="6106" y="1"/>
                  </a:moveTo>
                  <a:cubicBezTo>
                    <a:pt x="4532" y="1"/>
                    <a:pt x="2951" y="299"/>
                    <a:pt x="2206" y="1334"/>
                  </a:cubicBezTo>
                  <a:cubicBezTo>
                    <a:pt x="452" y="3773"/>
                    <a:pt x="1" y="27583"/>
                    <a:pt x="1" y="27583"/>
                  </a:cubicBezTo>
                  <a:cubicBezTo>
                    <a:pt x="1" y="27583"/>
                    <a:pt x="5511" y="27745"/>
                    <a:pt x="8521" y="27745"/>
                  </a:cubicBezTo>
                  <a:cubicBezTo>
                    <a:pt x="9608" y="27745"/>
                    <a:pt x="10369" y="27724"/>
                    <a:pt x="10427" y="27667"/>
                  </a:cubicBezTo>
                  <a:cubicBezTo>
                    <a:pt x="10627" y="27466"/>
                    <a:pt x="10360" y="549"/>
                    <a:pt x="10360" y="549"/>
                  </a:cubicBezTo>
                  <a:cubicBezTo>
                    <a:pt x="10360" y="549"/>
                    <a:pt x="8240" y="1"/>
                    <a:pt x="610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756285" y="3790818"/>
              <a:ext cx="31088" cy="40319"/>
            </a:xfrm>
            <a:custGeom>
              <a:avLst/>
              <a:gdLst/>
              <a:ahLst/>
              <a:cxnLst/>
              <a:rect l="l" t="t" r="r" b="b"/>
              <a:pathLst>
                <a:path w="970" h="1258" extrusionOk="0">
                  <a:moveTo>
                    <a:pt x="318" y="1"/>
                  </a:moveTo>
                  <a:cubicBezTo>
                    <a:pt x="304" y="14"/>
                    <a:pt x="346" y="39"/>
                    <a:pt x="415" y="65"/>
                  </a:cubicBezTo>
                  <a:lnTo>
                    <a:pt x="415" y="65"/>
                  </a:lnTo>
                  <a:cubicBezTo>
                    <a:pt x="256" y="164"/>
                    <a:pt x="126" y="304"/>
                    <a:pt x="51" y="485"/>
                  </a:cubicBezTo>
                  <a:cubicBezTo>
                    <a:pt x="1" y="619"/>
                    <a:pt x="1" y="769"/>
                    <a:pt x="51" y="920"/>
                  </a:cubicBezTo>
                  <a:cubicBezTo>
                    <a:pt x="101" y="1087"/>
                    <a:pt x="251" y="1220"/>
                    <a:pt x="435" y="1254"/>
                  </a:cubicBezTo>
                  <a:cubicBezTo>
                    <a:pt x="457" y="1257"/>
                    <a:pt x="480" y="1258"/>
                    <a:pt x="502" y="1258"/>
                  </a:cubicBezTo>
                  <a:cubicBezTo>
                    <a:pt x="612" y="1258"/>
                    <a:pt x="716" y="1223"/>
                    <a:pt x="786" y="1154"/>
                  </a:cubicBezTo>
                  <a:cubicBezTo>
                    <a:pt x="886" y="1070"/>
                    <a:pt x="936" y="953"/>
                    <a:pt x="953" y="836"/>
                  </a:cubicBezTo>
                  <a:cubicBezTo>
                    <a:pt x="970" y="652"/>
                    <a:pt x="953" y="468"/>
                    <a:pt x="886" y="301"/>
                  </a:cubicBezTo>
                  <a:cubicBezTo>
                    <a:pt x="836" y="168"/>
                    <a:pt x="719" y="101"/>
                    <a:pt x="585" y="101"/>
                  </a:cubicBezTo>
                  <a:cubicBezTo>
                    <a:pt x="485" y="101"/>
                    <a:pt x="452" y="151"/>
                    <a:pt x="452" y="168"/>
                  </a:cubicBezTo>
                  <a:lnTo>
                    <a:pt x="468" y="168"/>
                  </a:lnTo>
                  <a:cubicBezTo>
                    <a:pt x="468" y="168"/>
                    <a:pt x="502" y="151"/>
                    <a:pt x="585" y="151"/>
                  </a:cubicBezTo>
                  <a:cubicBezTo>
                    <a:pt x="686" y="168"/>
                    <a:pt x="769" y="235"/>
                    <a:pt x="803" y="335"/>
                  </a:cubicBezTo>
                  <a:cubicBezTo>
                    <a:pt x="836" y="502"/>
                    <a:pt x="853" y="652"/>
                    <a:pt x="819" y="819"/>
                  </a:cubicBezTo>
                  <a:cubicBezTo>
                    <a:pt x="804" y="984"/>
                    <a:pt x="669" y="1109"/>
                    <a:pt x="508" y="1109"/>
                  </a:cubicBezTo>
                  <a:cubicBezTo>
                    <a:pt x="490" y="1109"/>
                    <a:pt x="471" y="1107"/>
                    <a:pt x="452" y="1103"/>
                  </a:cubicBezTo>
                  <a:cubicBezTo>
                    <a:pt x="335" y="1087"/>
                    <a:pt x="218" y="986"/>
                    <a:pt x="184" y="869"/>
                  </a:cubicBezTo>
                  <a:cubicBezTo>
                    <a:pt x="134" y="753"/>
                    <a:pt x="134" y="636"/>
                    <a:pt x="168" y="519"/>
                  </a:cubicBezTo>
                  <a:cubicBezTo>
                    <a:pt x="234" y="352"/>
                    <a:pt x="351" y="201"/>
                    <a:pt x="502" y="84"/>
                  </a:cubicBezTo>
                  <a:lnTo>
                    <a:pt x="552" y="51"/>
                  </a:lnTo>
                  <a:lnTo>
                    <a:pt x="485" y="34"/>
                  </a:lnTo>
                  <a:cubicBezTo>
                    <a:pt x="385" y="1"/>
                    <a:pt x="318" y="1"/>
                    <a:pt x="3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25"/>
            <p:cNvSpPr/>
            <p:nvPr/>
          </p:nvSpPr>
          <p:spPr>
            <a:xfrm>
              <a:off x="7712376" y="3657490"/>
              <a:ext cx="61087" cy="140315"/>
            </a:xfrm>
            <a:custGeom>
              <a:avLst/>
              <a:gdLst/>
              <a:ahLst/>
              <a:cxnLst/>
              <a:rect l="l" t="t" r="r" b="b"/>
              <a:pathLst>
                <a:path w="1906" h="4378" extrusionOk="0">
                  <a:moveTo>
                    <a:pt x="0" y="0"/>
                  </a:moveTo>
                  <a:lnTo>
                    <a:pt x="0" y="0"/>
                  </a:lnTo>
                  <a:cubicBezTo>
                    <a:pt x="101" y="217"/>
                    <a:pt x="201" y="435"/>
                    <a:pt x="318" y="635"/>
                  </a:cubicBezTo>
                  <a:cubicBezTo>
                    <a:pt x="518" y="1019"/>
                    <a:pt x="786" y="1554"/>
                    <a:pt x="1053" y="2156"/>
                  </a:cubicBezTo>
                  <a:cubicBezTo>
                    <a:pt x="1304" y="2757"/>
                    <a:pt x="1521" y="3325"/>
                    <a:pt x="1655" y="3726"/>
                  </a:cubicBezTo>
                  <a:cubicBezTo>
                    <a:pt x="1721" y="3960"/>
                    <a:pt x="1805" y="4177"/>
                    <a:pt x="1905" y="4378"/>
                  </a:cubicBezTo>
                  <a:cubicBezTo>
                    <a:pt x="1889" y="4144"/>
                    <a:pt x="1838" y="3910"/>
                    <a:pt x="1755" y="3693"/>
                  </a:cubicBezTo>
                  <a:cubicBezTo>
                    <a:pt x="1437" y="2607"/>
                    <a:pt x="986" y="1554"/>
                    <a:pt x="401" y="585"/>
                  </a:cubicBezTo>
                  <a:cubicBezTo>
                    <a:pt x="301" y="368"/>
                    <a:pt x="168" y="184"/>
                    <a:pt x="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25"/>
            <p:cNvSpPr/>
            <p:nvPr/>
          </p:nvSpPr>
          <p:spPr>
            <a:xfrm>
              <a:off x="7779329" y="3670342"/>
              <a:ext cx="55703" cy="129610"/>
            </a:xfrm>
            <a:custGeom>
              <a:avLst/>
              <a:gdLst/>
              <a:ahLst/>
              <a:cxnLst/>
              <a:rect l="l" t="t" r="r" b="b"/>
              <a:pathLst>
                <a:path w="1738" h="4044" extrusionOk="0">
                  <a:moveTo>
                    <a:pt x="1738" y="0"/>
                  </a:moveTo>
                  <a:cubicBezTo>
                    <a:pt x="1604" y="167"/>
                    <a:pt x="1487" y="351"/>
                    <a:pt x="1404" y="552"/>
                  </a:cubicBezTo>
                  <a:cubicBezTo>
                    <a:pt x="1220" y="902"/>
                    <a:pt x="969" y="1404"/>
                    <a:pt x="718" y="1955"/>
                  </a:cubicBezTo>
                  <a:cubicBezTo>
                    <a:pt x="485" y="2523"/>
                    <a:pt x="284" y="3041"/>
                    <a:pt x="167" y="3425"/>
                  </a:cubicBezTo>
                  <a:cubicBezTo>
                    <a:pt x="84" y="3626"/>
                    <a:pt x="17" y="3826"/>
                    <a:pt x="0" y="4044"/>
                  </a:cubicBezTo>
                  <a:cubicBezTo>
                    <a:pt x="100" y="3860"/>
                    <a:pt x="184" y="3659"/>
                    <a:pt x="251" y="3459"/>
                  </a:cubicBezTo>
                  <a:cubicBezTo>
                    <a:pt x="401" y="3091"/>
                    <a:pt x="618" y="2573"/>
                    <a:pt x="852" y="2022"/>
                  </a:cubicBezTo>
                  <a:cubicBezTo>
                    <a:pt x="1103" y="1471"/>
                    <a:pt x="1320" y="969"/>
                    <a:pt x="1487" y="602"/>
                  </a:cubicBezTo>
                  <a:cubicBezTo>
                    <a:pt x="1587" y="418"/>
                    <a:pt x="1671" y="217"/>
                    <a:pt x="17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25"/>
            <p:cNvSpPr/>
            <p:nvPr/>
          </p:nvSpPr>
          <p:spPr>
            <a:xfrm>
              <a:off x="7713979" y="3826169"/>
              <a:ext cx="49293" cy="217972"/>
            </a:xfrm>
            <a:custGeom>
              <a:avLst/>
              <a:gdLst/>
              <a:ahLst/>
              <a:cxnLst/>
              <a:rect l="l" t="t" r="r" b="b"/>
              <a:pathLst>
                <a:path w="1538" h="6801" extrusionOk="0">
                  <a:moveTo>
                    <a:pt x="1538" y="0"/>
                  </a:moveTo>
                  <a:lnTo>
                    <a:pt x="1538" y="0"/>
                  </a:lnTo>
                  <a:cubicBezTo>
                    <a:pt x="1488" y="84"/>
                    <a:pt x="1454" y="168"/>
                    <a:pt x="1438" y="268"/>
                  </a:cubicBezTo>
                  <a:cubicBezTo>
                    <a:pt x="1371" y="435"/>
                    <a:pt x="1304" y="669"/>
                    <a:pt x="1204" y="970"/>
                  </a:cubicBezTo>
                  <a:cubicBezTo>
                    <a:pt x="1037" y="1588"/>
                    <a:pt x="803" y="2423"/>
                    <a:pt x="585" y="3376"/>
                  </a:cubicBezTo>
                  <a:cubicBezTo>
                    <a:pt x="385" y="4311"/>
                    <a:pt x="218" y="5163"/>
                    <a:pt x="118" y="5798"/>
                  </a:cubicBezTo>
                  <a:cubicBezTo>
                    <a:pt x="67" y="6099"/>
                    <a:pt x="34" y="6350"/>
                    <a:pt x="17" y="6533"/>
                  </a:cubicBezTo>
                  <a:cubicBezTo>
                    <a:pt x="1" y="6617"/>
                    <a:pt x="1" y="6717"/>
                    <a:pt x="1" y="6801"/>
                  </a:cubicBezTo>
                  <a:cubicBezTo>
                    <a:pt x="101" y="6483"/>
                    <a:pt x="168" y="6149"/>
                    <a:pt x="218" y="5815"/>
                  </a:cubicBezTo>
                  <a:cubicBezTo>
                    <a:pt x="351" y="5197"/>
                    <a:pt x="519" y="4345"/>
                    <a:pt x="736" y="3392"/>
                  </a:cubicBezTo>
                  <a:cubicBezTo>
                    <a:pt x="936" y="2457"/>
                    <a:pt x="1153" y="1621"/>
                    <a:pt x="1304" y="1003"/>
                  </a:cubicBezTo>
                  <a:cubicBezTo>
                    <a:pt x="1404" y="669"/>
                    <a:pt x="1488" y="351"/>
                    <a:pt x="15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25"/>
            <p:cNvSpPr/>
            <p:nvPr/>
          </p:nvSpPr>
          <p:spPr>
            <a:xfrm>
              <a:off x="7780387" y="3827227"/>
              <a:ext cx="54645" cy="133392"/>
            </a:xfrm>
            <a:custGeom>
              <a:avLst/>
              <a:gdLst/>
              <a:ahLst/>
              <a:cxnLst/>
              <a:rect l="l" t="t" r="r" b="b"/>
              <a:pathLst>
                <a:path w="1705" h="4162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201"/>
                    <a:pt x="168" y="402"/>
                    <a:pt x="268" y="602"/>
                  </a:cubicBezTo>
                  <a:cubicBezTo>
                    <a:pt x="452" y="970"/>
                    <a:pt x="685" y="1471"/>
                    <a:pt x="919" y="2056"/>
                  </a:cubicBezTo>
                  <a:cubicBezTo>
                    <a:pt x="1153" y="2624"/>
                    <a:pt x="1337" y="3159"/>
                    <a:pt x="1471" y="3543"/>
                  </a:cubicBezTo>
                  <a:cubicBezTo>
                    <a:pt x="1521" y="3760"/>
                    <a:pt x="1604" y="3961"/>
                    <a:pt x="1705" y="4161"/>
                  </a:cubicBezTo>
                  <a:cubicBezTo>
                    <a:pt x="1688" y="3944"/>
                    <a:pt x="1638" y="3727"/>
                    <a:pt x="1571" y="3510"/>
                  </a:cubicBezTo>
                  <a:cubicBezTo>
                    <a:pt x="1287" y="2490"/>
                    <a:pt x="869" y="1488"/>
                    <a:pt x="351" y="552"/>
                  </a:cubicBezTo>
                  <a:cubicBezTo>
                    <a:pt x="268" y="352"/>
                    <a:pt x="134" y="168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25"/>
            <p:cNvSpPr/>
            <p:nvPr/>
          </p:nvSpPr>
          <p:spPr>
            <a:xfrm>
              <a:off x="7800193" y="2062201"/>
              <a:ext cx="842402" cy="398446"/>
            </a:xfrm>
            <a:custGeom>
              <a:avLst/>
              <a:gdLst/>
              <a:ahLst/>
              <a:cxnLst/>
              <a:rect l="l" t="t" r="r" b="b"/>
              <a:pathLst>
                <a:path w="26284" h="12432" extrusionOk="0">
                  <a:moveTo>
                    <a:pt x="235" y="1"/>
                  </a:moveTo>
                  <a:lnTo>
                    <a:pt x="1" y="502"/>
                  </a:lnTo>
                  <a:lnTo>
                    <a:pt x="26049" y="12432"/>
                  </a:lnTo>
                  <a:lnTo>
                    <a:pt x="26283" y="11947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25"/>
            <p:cNvSpPr/>
            <p:nvPr/>
          </p:nvSpPr>
          <p:spPr>
            <a:xfrm>
              <a:off x="8429431" y="2361003"/>
              <a:ext cx="17692" cy="2295774"/>
            </a:xfrm>
            <a:custGeom>
              <a:avLst/>
              <a:gdLst/>
              <a:ahLst/>
              <a:cxnLst/>
              <a:rect l="l" t="t" r="r" b="b"/>
              <a:pathLst>
                <a:path w="552" h="71631" extrusionOk="0">
                  <a:moveTo>
                    <a:pt x="0" y="1"/>
                  </a:moveTo>
                  <a:lnTo>
                    <a:pt x="0" y="71630"/>
                  </a:lnTo>
                  <a:lnTo>
                    <a:pt x="552" y="7163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25"/>
            <p:cNvSpPr/>
            <p:nvPr/>
          </p:nvSpPr>
          <p:spPr>
            <a:xfrm>
              <a:off x="8417092" y="2967742"/>
              <a:ext cx="45575" cy="308481"/>
            </a:xfrm>
            <a:custGeom>
              <a:avLst/>
              <a:gdLst/>
              <a:ahLst/>
              <a:cxnLst/>
              <a:rect l="l" t="t" r="r" b="b"/>
              <a:pathLst>
                <a:path w="1422" h="9625" extrusionOk="0">
                  <a:moveTo>
                    <a:pt x="636" y="1"/>
                  </a:moveTo>
                  <a:cubicBezTo>
                    <a:pt x="285" y="1"/>
                    <a:pt x="1" y="285"/>
                    <a:pt x="1" y="636"/>
                  </a:cubicBezTo>
                  <a:lnTo>
                    <a:pt x="1" y="8990"/>
                  </a:lnTo>
                  <a:cubicBezTo>
                    <a:pt x="1" y="9341"/>
                    <a:pt x="285" y="9625"/>
                    <a:pt x="636" y="9625"/>
                  </a:cubicBezTo>
                  <a:lnTo>
                    <a:pt x="786" y="9625"/>
                  </a:lnTo>
                  <a:cubicBezTo>
                    <a:pt x="1137" y="9625"/>
                    <a:pt x="1421" y="9341"/>
                    <a:pt x="1421" y="8990"/>
                  </a:cubicBezTo>
                  <a:lnTo>
                    <a:pt x="1421" y="636"/>
                  </a:lnTo>
                  <a:cubicBezTo>
                    <a:pt x="1421" y="285"/>
                    <a:pt x="1137" y="1"/>
                    <a:pt x="78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25"/>
            <p:cNvSpPr/>
            <p:nvPr/>
          </p:nvSpPr>
          <p:spPr>
            <a:xfrm>
              <a:off x="7696832" y="1980730"/>
              <a:ext cx="143039" cy="128617"/>
            </a:xfrm>
            <a:custGeom>
              <a:avLst/>
              <a:gdLst/>
              <a:ahLst/>
              <a:cxnLst/>
              <a:rect l="l" t="t" r="r" b="b"/>
              <a:pathLst>
                <a:path w="4463" h="4013" extrusionOk="0">
                  <a:moveTo>
                    <a:pt x="2365" y="1"/>
                  </a:moveTo>
                  <a:cubicBezTo>
                    <a:pt x="1759" y="1"/>
                    <a:pt x="1166" y="297"/>
                    <a:pt x="820" y="838"/>
                  </a:cubicBezTo>
                  <a:lnTo>
                    <a:pt x="1" y="2125"/>
                  </a:lnTo>
                  <a:lnTo>
                    <a:pt x="3242" y="4013"/>
                  </a:lnTo>
                  <a:lnTo>
                    <a:pt x="3961" y="2760"/>
                  </a:lnTo>
                  <a:cubicBezTo>
                    <a:pt x="4462" y="1891"/>
                    <a:pt x="4178" y="788"/>
                    <a:pt x="3326" y="270"/>
                  </a:cubicBezTo>
                  <a:cubicBezTo>
                    <a:pt x="3026" y="88"/>
                    <a:pt x="2693" y="1"/>
                    <a:pt x="236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25"/>
            <p:cNvSpPr/>
            <p:nvPr/>
          </p:nvSpPr>
          <p:spPr>
            <a:xfrm>
              <a:off x="7433894" y="2048804"/>
              <a:ext cx="428989" cy="324570"/>
            </a:xfrm>
            <a:custGeom>
              <a:avLst/>
              <a:gdLst/>
              <a:ahLst/>
              <a:cxnLst/>
              <a:rect l="l" t="t" r="r" b="b"/>
              <a:pathLst>
                <a:path w="13385" h="10127" extrusionOk="0">
                  <a:moveTo>
                    <a:pt x="8205" y="1"/>
                  </a:moveTo>
                  <a:lnTo>
                    <a:pt x="1" y="2541"/>
                  </a:lnTo>
                  <a:lnTo>
                    <a:pt x="13385" y="10126"/>
                  </a:lnTo>
                  <a:lnTo>
                    <a:pt x="11547" y="1388"/>
                  </a:lnTo>
                  <a:lnTo>
                    <a:pt x="820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25"/>
            <p:cNvSpPr/>
            <p:nvPr/>
          </p:nvSpPr>
          <p:spPr>
            <a:xfrm>
              <a:off x="7392133" y="2122423"/>
              <a:ext cx="494307" cy="283354"/>
            </a:xfrm>
            <a:custGeom>
              <a:avLst/>
              <a:gdLst/>
              <a:ahLst/>
              <a:cxnLst/>
              <a:rect l="l" t="t" r="r" b="b"/>
              <a:pathLst>
                <a:path w="15423" h="8841" extrusionOk="0">
                  <a:moveTo>
                    <a:pt x="2252" y="1"/>
                  </a:moveTo>
                  <a:cubicBezTo>
                    <a:pt x="1456" y="1"/>
                    <a:pt x="893" y="198"/>
                    <a:pt x="669" y="611"/>
                  </a:cubicBezTo>
                  <a:cubicBezTo>
                    <a:pt x="1" y="1848"/>
                    <a:pt x="2607" y="4554"/>
                    <a:pt x="6500" y="6660"/>
                  </a:cubicBezTo>
                  <a:cubicBezTo>
                    <a:pt x="9092" y="8061"/>
                    <a:pt x="11594" y="8840"/>
                    <a:pt x="13175" y="8840"/>
                  </a:cubicBezTo>
                  <a:cubicBezTo>
                    <a:pt x="13969" y="8840"/>
                    <a:pt x="14531" y="8644"/>
                    <a:pt x="14754" y="8230"/>
                  </a:cubicBezTo>
                  <a:cubicBezTo>
                    <a:pt x="15423" y="6994"/>
                    <a:pt x="12816" y="4287"/>
                    <a:pt x="8923" y="2182"/>
                  </a:cubicBezTo>
                  <a:cubicBezTo>
                    <a:pt x="6343" y="780"/>
                    <a:pt x="3837" y="1"/>
                    <a:pt x="225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25"/>
            <p:cNvSpPr/>
            <p:nvPr/>
          </p:nvSpPr>
          <p:spPr>
            <a:xfrm>
              <a:off x="8186845" y="4588222"/>
              <a:ext cx="495910" cy="68555"/>
            </a:xfrm>
            <a:custGeom>
              <a:avLst/>
              <a:gdLst/>
              <a:ahLst/>
              <a:cxnLst/>
              <a:rect l="l" t="t" r="r" b="b"/>
              <a:pathLst>
                <a:path w="15473" h="2139" extrusionOk="0">
                  <a:moveTo>
                    <a:pt x="7073" y="0"/>
                  </a:moveTo>
                  <a:cubicBezTo>
                    <a:pt x="2093" y="0"/>
                    <a:pt x="0" y="2138"/>
                    <a:pt x="0" y="2138"/>
                  </a:cubicBezTo>
                  <a:lnTo>
                    <a:pt x="15472" y="2138"/>
                  </a:lnTo>
                  <a:cubicBezTo>
                    <a:pt x="15472" y="2138"/>
                    <a:pt x="13384" y="234"/>
                    <a:pt x="7837" y="16"/>
                  </a:cubicBezTo>
                  <a:cubicBezTo>
                    <a:pt x="7575" y="5"/>
                    <a:pt x="7321" y="0"/>
                    <a:pt x="707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0" name="Google Shape;720;p25"/>
            <p:cNvSpPr/>
            <p:nvPr/>
          </p:nvSpPr>
          <p:spPr>
            <a:xfrm>
              <a:off x="8404240" y="2327799"/>
              <a:ext cx="78779" cy="67049"/>
            </a:xfrm>
            <a:custGeom>
              <a:avLst/>
              <a:gdLst/>
              <a:ahLst/>
              <a:cxnLst/>
              <a:rect l="l" t="t" r="r" b="b"/>
              <a:pathLst>
                <a:path w="2458" h="2092" extrusionOk="0">
                  <a:moveTo>
                    <a:pt x="1054" y="1"/>
                  </a:moveTo>
                  <a:cubicBezTo>
                    <a:pt x="469" y="1"/>
                    <a:pt x="1" y="469"/>
                    <a:pt x="1" y="1037"/>
                  </a:cubicBezTo>
                  <a:cubicBezTo>
                    <a:pt x="1" y="1672"/>
                    <a:pt x="525" y="2092"/>
                    <a:pt x="1070" y="2092"/>
                  </a:cubicBezTo>
                  <a:cubicBezTo>
                    <a:pt x="1328" y="2092"/>
                    <a:pt x="1591" y="1998"/>
                    <a:pt x="1805" y="1789"/>
                  </a:cubicBezTo>
                  <a:cubicBezTo>
                    <a:pt x="2457" y="1120"/>
                    <a:pt x="1989" y="1"/>
                    <a:pt x="105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1" name="Google Shape;721;p25"/>
            <p:cNvSpPr/>
            <p:nvPr/>
          </p:nvSpPr>
          <p:spPr>
            <a:xfrm>
              <a:off x="7788944" y="1949738"/>
              <a:ext cx="39133" cy="47178"/>
            </a:xfrm>
            <a:custGeom>
              <a:avLst/>
              <a:gdLst/>
              <a:ahLst/>
              <a:cxnLst/>
              <a:rect l="l" t="t" r="r" b="b"/>
              <a:pathLst>
                <a:path w="1221" h="1472" extrusionOk="0">
                  <a:moveTo>
                    <a:pt x="586" y="1"/>
                  </a:moveTo>
                  <a:lnTo>
                    <a:pt x="1" y="1304"/>
                  </a:lnTo>
                  <a:lnTo>
                    <a:pt x="485" y="1471"/>
                  </a:lnTo>
                  <a:lnTo>
                    <a:pt x="1220" y="235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25"/>
            <p:cNvSpPr/>
            <p:nvPr/>
          </p:nvSpPr>
          <p:spPr>
            <a:xfrm>
              <a:off x="7696319" y="2045054"/>
              <a:ext cx="113008" cy="53620"/>
            </a:xfrm>
            <a:custGeom>
              <a:avLst/>
              <a:gdLst/>
              <a:ahLst/>
              <a:cxnLst/>
              <a:rect l="l" t="t" r="r" b="b"/>
              <a:pathLst>
                <a:path w="3526" h="1673" extrusionOk="0">
                  <a:moveTo>
                    <a:pt x="389" y="0"/>
                  </a:moveTo>
                  <a:cubicBezTo>
                    <a:pt x="261" y="0"/>
                    <a:pt x="136" y="19"/>
                    <a:pt x="17" y="51"/>
                  </a:cubicBezTo>
                  <a:cubicBezTo>
                    <a:pt x="0" y="101"/>
                    <a:pt x="936" y="34"/>
                    <a:pt x="1938" y="502"/>
                  </a:cubicBezTo>
                  <a:cubicBezTo>
                    <a:pt x="2919" y="960"/>
                    <a:pt x="3468" y="1673"/>
                    <a:pt x="3523" y="1673"/>
                  </a:cubicBezTo>
                  <a:cubicBezTo>
                    <a:pt x="3524" y="1673"/>
                    <a:pt x="3525" y="1672"/>
                    <a:pt x="3526" y="1672"/>
                  </a:cubicBezTo>
                  <a:cubicBezTo>
                    <a:pt x="3442" y="1488"/>
                    <a:pt x="3308" y="1338"/>
                    <a:pt x="3158" y="1204"/>
                  </a:cubicBezTo>
                  <a:cubicBezTo>
                    <a:pt x="2473" y="519"/>
                    <a:pt x="1571" y="84"/>
                    <a:pt x="602" y="18"/>
                  </a:cubicBezTo>
                  <a:cubicBezTo>
                    <a:pt x="531" y="6"/>
                    <a:pt x="460" y="0"/>
                    <a:pt x="38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25"/>
            <p:cNvSpPr/>
            <p:nvPr/>
          </p:nvSpPr>
          <p:spPr>
            <a:xfrm>
              <a:off x="7569401" y="2185914"/>
              <a:ext cx="140315" cy="146757"/>
            </a:xfrm>
            <a:custGeom>
              <a:avLst/>
              <a:gdLst/>
              <a:ahLst/>
              <a:cxnLst/>
              <a:rect l="l" t="t" r="r" b="b"/>
              <a:pathLst>
                <a:path w="4378" h="4579" extrusionOk="0">
                  <a:moveTo>
                    <a:pt x="3025" y="0"/>
                  </a:moveTo>
                  <a:lnTo>
                    <a:pt x="936" y="1220"/>
                  </a:lnTo>
                  <a:cubicBezTo>
                    <a:pt x="719" y="1354"/>
                    <a:pt x="552" y="1537"/>
                    <a:pt x="435" y="1755"/>
                  </a:cubicBezTo>
                  <a:cubicBezTo>
                    <a:pt x="167" y="2289"/>
                    <a:pt x="0" y="3258"/>
                    <a:pt x="1654" y="4127"/>
                  </a:cubicBezTo>
                  <a:cubicBezTo>
                    <a:pt x="2285" y="4457"/>
                    <a:pt x="2770" y="4579"/>
                    <a:pt x="3144" y="4579"/>
                  </a:cubicBezTo>
                  <a:cubicBezTo>
                    <a:pt x="3603" y="4579"/>
                    <a:pt x="3893" y="4397"/>
                    <a:pt x="4077" y="4194"/>
                  </a:cubicBezTo>
                  <a:cubicBezTo>
                    <a:pt x="4278" y="3960"/>
                    <a:pt x="4378" y="3659"/>
                    <a:pt x="4361" y="3359"/>
                  </a:cubicBezTo>
                  <a:lnTo>
                    <a:pt x="4361" y="752"/>
                  </a:lnTo>
                  <a:lnTo>
                    <a:pt x="3025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25"/>
            <p:cNvSpPr/>
            <p:nvPr/>
          </p:nvSpPr>
          <p:spPr>
            <a:xfrm>
              <a:off x="7624015" y="2195016"/>
              <a:ext cx="73939" cy="89996"/>
            </a:xfrm>
            <a:custGeom>
              <a:avLst/>
              <a:gdLst/>
              <a:ahLst/>
              <a:cxnLst/>
              <a:rect l="l" t="t" r="r" b="b"/>
              <a:pathLst>
                <a:path w="2307" h="2808" extrusionOk="0">
                  <a:moveTo>
                    <a:pt x="351" y="1471"/>
                  </a:moveTo>
                  <a:cubicBezTo>
                    <a:pt x="485" y="1471"/>
                    <a:pt x="602" y="1504"/>
                    <a:pt x="719" y="1554"/>
                  </a:cubicBezTo>
                  <a:cubicBezTo>
                    <a:pt x="758" y="1574"/>
                    <a:pt x="797" y="1593"/>
                    <a:pt x="836" y="1613"/>
                  </a:cubicBezTo>
                  <a:lnTo>
                    <a:pt x="836" y="1613"/>
                  </a:lnTo>
                  <a:cubicBezTo>
                    <a:pt x="830" y="1621"/>
                    <a:pt x="825" y="1629"/>
                    <a:pt x="819" y="1638"/>
                  </a:cubicBezTo>
                  <a:cubicBezTo>
                    <a:pt x="752" y="1721"/>
                    <a:pt x="686" y="1805"/>
                    <a:pt x="585" y="1872"/>
                  </a:cubicBezTo>
                  <a:cubicBezTo>
                    <a:pt x="540" y="1929"/>
                    <a:pt x="471" y="1955"/>
                    <a:pt x="399" y="1955"/>
                  </a:cubicBezTo>
                  <a:cubicBezTo>
                    <a:pt x="366" y="1955"/>
                    <a:pt x="333" y="1949"/>
                    <a:pt x="301" y="1938"/>
                  </a:cubicBezTo>
                  <a:cubicBezTo>
                    <a:pt x="67" y="1855"/>
                    <a:pt x="101" y="1504"/>
                    <a:pt x="351" y="1471"/>
                  </a:cubicBezTo>
                  <a:close/>
                  <a:moveTo>
                    <a:pt x="1410" y="1962"/>
                  </a:moveTo>
                  <a:cubicBezTo>
                    <a:pt x="1430" y="1976"/>
                    <a:pt x="1451" y="1991"/>
                    <a:pt x="1471" y="2005"/>
                  </a:cubicBezTo>
                  <a:cubicBezTo>
                    <a:pt x="1588" y="2089"/>
                    <a:pt x="1688" y="2172"/>
                    <a:pt x="1671" y="2289"/>
                  </a:cubicBezTo>
                  <a:cubicBezTo>
                    <a:pt x="1655" y="2406"/>
                    <a:pt x="1605" y="2523"/>
                    <a:pt x="1521" y="2624"/>
                  </a:cubicBezTo>
                  <a:cubicBezTo>
                    <a:pt x="1494" y="2657"/>
                    <a:pt x="1462" y="2672"/>
                    <a:pt x="1428" y="2672"/>
                  </a:cubicBezTo>
                  <a:cubicBezTo>
                    <a:pt x="1379" y="2672"/>
                    <a:pt x="1327" y="2640"/>
                    <a:pt x="1287" y="2590"/>
                  </a:cubicBezTo>
                  <a:cubicBezTo>
                    <a:pt x="1220" y="2507"/>
                    <a:pt x="1204" y="2390"/>
                    <a:pt x="1254" y="2289"/>
                  </a:cubicBezTo>
                  <a:cubicBezTo>
                    <a:pt x="1287" y="2172"/>
                    <a:pt x="1354" y="2072"/>
                    <a:pt x="1404" y="1972"/>
                  </a:cubicBezTo>
                  <a:cubicBezTo>
                    <a:pt x="1406" y="1969"/>
                    <a:pt x="1408" y="1965"/>
                    <a:pt x="1410" y="1962"/>
                  </a:cubicBezTo>
                  <a:close/>
                  <a:moveTo>
                    <a:pt x="1788" y="0"/>
                  </a:moveTo>
                  <a:cubicBezTo>
                    <a:pt x="1722" y="84"/>
                    <a:pt x="1671" y="184"/>
                    <a:pt x="1638" y="301"/>
                  </a:cubicBezTo>
                  <a:cubicBezTo>
                    <a:pt x="1504" y="568"/>
                    <a:pt x="1337" y="836"/>
                    <a:pt x="1187" y="1103"/>
                  </a:cubicBezTo>
                  <a:cubicBezTo>
                    <a:pt x="1099" y="1229"/>
                    <a:pt x="1011" y="1355"/>
                    <a:pt x="916" y="1495"/>
                  </a:cubicBezTo>
                  <a:lnTo>
                    <a:pt x="916" y="1495"/>
                  </a:lnTo>
                  <a:cubicBezTo>
                    <a:pt x="872" y="1473"/>
                    <a:pt x="829" y="1453"/>
                    <a:pt x="786" y="1437"/>
                  </a:cubicBezTo>
                  <a:cubicBezTo>
                    <a:pt x="661" y="1368"/>
                    <a:pt x="535" y="1333"/>
                    <a:pt x="400" y="1333"/>
                  </a:cubicBezTo>
                  <a:cubicBezTo>
                    <a:pt x="373" y="1333"/>
                    <a:pt x="346" y="1334"/>
                    <a:pt x="318" y="1337"/>
                  </a:cubicBezTo>
                  <a:cubicBezTo>
                    <a:pt x="151" y="1370"/>
                    <a:pt x="17" y="1504"/>
                    <a:pt x="1" y="1688"/>
                  </a:cubicBezTo>
                  <a:cubicBezTo>
                    <a:pt x="1" y="1855"/>
                    <a:pt x="101" y="2005"/>
                    <a:pt x="251" y="2072"/>
                  </a:cubicBezTo>
                  <a:cubicBezTo>
                    <a:pt x="290" y="2081"/>
                    <a:pt x="329" y="2085"/>
                    <a:pt x="367" y="2085"/>
                  </a:cubicBezTo>
                  <a:cubicBezTo>
                    <a:pt x="477" y="2085"/>
                    <a:pt x="582" y="2051"/>
                    <a:pt x="669" y="1989"/>
                  </a:cubicBezTo>
                  <a:cubicBezTo>
                    <a:pt x="769" y="1905"/>
                    <a:pt x="853" y="1805"/>
                    <a:pt x="920" y="1705"/>
                  </a:cubicBezTo>
                  <a:cubicBezTo>
                    <a:pt x="927" y="1693"/>
                    <a:pt x="935" y="1682"/>
                    <a:pt x="942" y="1670"/>
                  </a:cubicBezTo>
                  <a:lnTo>
                    <a:pt x="942" y="1670"/>
                  </a:lnTo>
                  <a:cubicBezTo>
                    <a:pt x="998" y="1702"/>
                    <a:pt x="1052" y="1735"/>
                    <a:pt x="1103" y="1771"/>
                  </a:cubicBezTo>
                  <a:cubicBezTo>
                    <a:pt x="1179" y="1809"/>
                    <a:pt x="1249" y="1852"/>
                    <a:pt x="1317" y="1898"/>
                  </a:cubicBezTo>
                  <a:lnTo>
                    <a:pt x="1317" y="1898"/>
                  </a:lnTo>
                  <a:lnTo>
                    <a:pt x="1304" y="1922"/>
                  </a:lnTo>
                  <a:cubicBezTo>
                    <a:pt x="1237" y="2022"/>
                    <a:pt x="1187" y="2139"/>
                    <a:pt x="1137" y="2239"/>
                  </a:cubicBezTo>
                  <a:cubicBezTo>
                    <a:pt x="1103" y="2306"/>
                    <a:pt x="1103" y="2390"/>
                    <a:pt x="1103" y="2456"/>
                  </a:cubicBezTo>
                  <a:cubicBezTo>
                    <a:pt x="1103" y="2540"/>
                    <a:pt x="1137" y="2607"/>
                    <a:pt x="1170" y="2674"/>
                  </a:cubicBezTo>
                  <a:cubicBezTo>
                    <a:pt x="1220" y="2740"/>
                    <a:pt x="1304" y="2791"/>
                    <a:pt x="1387" y="2807"/>
                  </a:cubicBezTo>
                  <a:cubicBezTo>
                    <a:pt x="1471" y="2807"/>
                    <a:pt x="1554" y="2774"/>
                    <a:pt x="1621" y="2707"/>
                  </a:cubicBezTo>
                  <a:cubicBezTo>
                    <a:pt x="1671" y="2657"/>
                    <a:pt x="1722" y="2590"/>
                    <a:pt x="1738" y="2523"/>
                  </a:cubicBezTo>
                  <a:cubicBezTo>
                    <a:pt x="1772" y="2456"/>
                    <a:pt x="1805" y="2373"/>
                    <a:pt x="1805" y="2289"/>
                  </a:cubicBezTo>
                  <a:cubicBezTo>
                    <a:pt x="1822" y="2206"/>
                    <a:pt x="1788" y="2122"/>
                    <a:pt x="1738" y="2055"/>
                  </a:cubicBezTo>
                  <a:cubicBezTo>
                    <a:pt x="1671" y="1989"/>
                    <a:pt x="1621" y="1938"/>
                    <a:pt x="1554" y="1888"/>
                  </a:cubicBezTo>
                  <a:cubicBezTo>
                    <a:pt x="1531" y="1871"/>
                    <a:pt x="1506" y="1854"/>
                    <a:pt x="1482" y="1838"/>
                  </a:cubicBezTo>
                  <a:lnTo>
                    <a:pt x="1482" y="1838"/>
                  </a:lnTo>
                  <a:cubicBezTo>
                    <a:pt x="1567" y="1689"/>
                    <a:pt x="1644" y="1550"/>
                    <a:pt x="1722" y="1420"/>
                  </a:cubicBezTo>
                  <a:lnTo>
                    <a:pt x="2156" y="602"/>
                  </a:lnTo>
                  <a:cubicBezTo>
                    <a:pt x="2223" y="502"/>
                    <a:pt x="2273" y="401"/>
                    <a:pt x="2306" y="284"/>
                  </a:cubicBezTo>
                  <a:lnTo>
                    <a:pt x="2306" y="284"/>
                  </a:lnTo>
                  <a:cubicBezTo>
                    <a:pt x="2223" y="368"/>
                    <a:pt x="2156" y="468"/>
                    <a:pt x="2106" y="568"/>
                  </a:cubicBezTo>
                  <a:cubicBezTo>
                    <a:pt x="1972" y="786"/>
                    <a:pt x="1822" y="1053"/>
                    <a:pt x="1621" y="1370"/>
                  </a:cubicBezTo>
                  <a:lnTo>
                    <a:pt x="1388" y="1775"/>
                  </a:lnTo>
                  <a:lnTo>
                    <a:pt x="1388" y="1775"/>
                  </a:lnTo>
                  <a:cubicBezTo>
                    <a:pt x="1320" y="1729"/>
                    <a:pt x="1251" y="1683"/>
                    <a:pt x="1187" y="1638"/>
                  </a:cubicBezTo>
                  <a:cubicBezTo>
                    <a:pt x="1132" y="1610"/>
                    <a:pt x="1077" y="1580"/>
                    <a:pt x="1021" y="1550"/>
                  </a:cubicBezTo>
                  <a:lnTo>
                    <a:pt x="1021" y="1550"/>
                  </a:lnTo>
                  <a:cubicBezTo>
                    <a:pt x="1113" y="1409"/>
                    <a:pt x="1196" y="1276"/>
                    <a:pt x="1270" y="1153"/>
                  </a:cubicBezTo>
                  <a:cubicBezTo>
                    <a:pt x="1421" y="886"/>
                    <a:pt x="1571" y="602"/>
                    <a:pt x="1688" y="318"/>
                  </a:cubicBezTo>
                  <a:cubicBezTo>
                    <a:pt x="1738" y="217"/>
                    <a:pt x="1772" y="101"/>
                    <a:pt x="178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25"/>
            <p:cNvSpPr/>
            <p:nvPr/>
          </p:nvSpPr>
          <p:spPr>
            <a:xfrm>
              <a:off x="6516591" y="4613894"/>
              <a:ext cx="63747" cy="45607"/>
            </a:xfrm>
            <a:custGeom>
              <a:avLst/>
              <a:gdLst/>
              <a:ahLst/>
              <a:cxnLst/>
              <a:rect l="l" t="t" r="r" b="b"/>
              <a:pathLst>
                <a:path w="1989" h="1423" extrusionOk="0">
                  <a:moveTo>
                    <a:pt x="418" y="1"/>
                  </a:moveTo>
                  <a:cubicBezTo>
                    <a:pt x="318" y="1"/>
                    <a:pt x="217" y="1"/>
                    <a:pt x="117" y="17"/>
                  </a:cubicBezTo>
                  <a:cubicBezTo>
                    <a:pt x="84" y="17"/>
                    <a:pt x="34" y="34"/>
                    <a:pt x="0" y="51"/>
                  </a:cubicBezTo>
                  <a:cubicBezTo>
                    <a:pt x="11" y="51"/>
                    <a:pt x="82" y="43"/>
                    <a:pt x="202" y="43"/>
                  </a:cubicBezTo>
                  <a:cubicBezTo>
                    <a:pt x="262" y="43"/>
                    <a:pt x="334" y="45"/>
                    <a:pt x="418" y="51"/>
                  </a:cubicBezTo>
                  <a:cubicBezTo>
                    <a:pt x="735" y="67"/>
                    <a:pt x="1036" y="184"/>
                    <a:pt x="1303" y="368"/>
                  </a:cubicBezTo>
                  <a:cubicBezTo>
                    <a:pt x="1554" y="535"/>
                    <a:pt x="1755" y="786"/>
                    <a:pt x="1872" y="1070"/>
                  </a:cubicBezTo>
                  <a:cubicBezTo>
                    <a:pt x="1951" y="1276"/>
                    <a:pt x="1970" y="1422"/>
                    <a:pt x="1986" y="1422"/>
                  </a:cubicBezTo>
                  <a:cubicBezTo>
                    <a:pt x="1987" y="1422"/>
                    <a:pt x="1988" y="1422"/>
                    <a:pt x="1989" y="1421"/>
                  </a:cubicBezTo>
                  <a:cubicBezTo>
                    <a:pt x="1989" y="1387"/>
                    <a:pt x="1989" y="1354"/>
                    <a:pt x="1989" y="1321"/>
                  </a:cubicBezTo>
                  <a:cubicBezTo>
                    <a:pt x="1972" y="1237"/>
                    <a:pt x="1938" y="1137"/>
                    <a:pt x="1922" y="1053"/>
                  </a:cubicBezTo>
                  <a:cubicBezTo>
                    <a:pt x="1805" y="753"/>
                    <a:pt x="1604" y="502"/>
                    <a:pt x="1337" y="318"/>
                  </a:cubicBezTo>
                  <a:cubicBezTo>
                    <a:pt x="1070" y="134"/>
                    <a:pt x="752" y="17"/>
                    <a:pt x="4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26" name="Google Shape;726;p25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4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25"/>
          <p:cNvSpPr txBox="1">
            <a:spLocks noGrp="1"/>
          </p:cNvSpPr>
          <p:nvPr>
            <p:ph type="subTitle" idx="1"/>
          </p:nvPr>
        </p:nvSpPr>
        <p:spPr>
          <a:xfrm>
            <a:off x="1543567" y="3188368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28" name="Google Shape;728;p25"/>
          <p:cNvSpPr txBox="1">
            <a:spLocks noGrp="1"/>
          </p:cNvSpPr>
          <p:nvPr>
            <p:ph type="subTitle" idx="2"/>
          </p:nvPr>
        </p:nvSpPr>
        <p:spPr>
          <a:xfrm>
            <a:off x="1543567" y="3557169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25"/>
          <p:cNvSpPr txBox="1">
            <a:spLocks noGrp="1"/>
          </p:cNvSpPr>
          <p:nvPr>
            <p:ph type="subTitle" idx="3"/>
          </p:nvPr>
        </p:nvSpPr>
        <p:spPr>
          <a:xfrm>
            <a:off x="4461967" y="3188368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30" name="Google Shape;730;p25"/>
          <p:cNvSpPr txBox="1">
            <a:spLocks noGrp="1"/>
          </p:cNvSpPr>
          <p:nvPr>
            <p:ph type="subTitle" idx="4"/>
          </p:nvPr>
        </p:nvSpPr>
        <p:spPr>
          <a:xfrm>
            <a:off x="4461967" y="3557169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25"/>
          <p:cNvSpPr txBox="1">
            <a:spLocks noGrp="1"/>
          </p:cNvSpPr>
          <p:nvPr>
            <p:ph type="subTitle" idx="5"/>
          </p:nvPr>
        </p:nvSpPr>
        <p:spPr>
          <a:xfrm>
            <a:off x="1543567" y="4480800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32" name="Google Shape;732;p25"/>
          <p:cNvSpPr txBox="1">
            <a:spLocks noGrp="1"/>
          </p:cNvSpPr>
          <p:nvPr>
            <p:ph type="subTitle" idx="6"/>
          </p:nvPr>
        </p:nvSpPr>
        <p:spPr>
          <a:xfrm>
            <a:off x="1543567" y="4849601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3" name="Google Shape;733;p25"/>
          <p:cNvSpPr txBox="1">
            <a:spLocks noGrp="1"/>
          </p:cNvSpPr>
          <p:nvPr>
            <p:ph type="subTitle" idx="7"/>
          </p:nvPr>
        </p:nvSpPr>
        <p:spPr>
          <a:xfrm>
            <a:off x="4461967" y="4480800"/>
            <a:ext cx="2449200" cy="3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34" name="Google Shape;734;p25"/>
          <p:cNvSpPr txBox="1">
            <a:spLocks noGrp="1"/>
          </p:cNvSpPr>
          <p:nvPr>
            <p:ph type="subTitle" idx="8"/>
          </p:nvPr>
        </p:nvSpPr>
        <p:spPr>
          <a:xfrm>
            <a:off x="4461967" y="4849601"/>
            <a:ext cx="2449200" cy="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1995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grpSp>
        <p:nvGrpSpPr>
          <p:cNvPr id="11" name="Gruppieren 10"/>
          <p:cNvGrpSpPr>
            <a:grpSpLocks noChangeAspect="1"/>
          </p:cNvGrpSpPr>
          <p:nvPr userDrawn="1"/>
        </p:nvGrpSpPr>
        <p:grpSpPr>
          <a:xfrm>
            <a:off x="0" y="6091834"/>
            <a:ext cx="686597" cy="735324"/>
            <a:chOff x="0" y="0"/>
            <a:chExt cx="2649220" cy="2837920"/>
          </a:xfrm>
        </p:grpSpPr>
        <p:pic>
          <p:nvPicPr>
            <p:cNvPr id="12" name="Inhaltsplatzhalter 3"/>
            <p:cNvPicPr>
              <a:picLocks noChangeAspect="1"/>
            </p:cNvPicPr>
            <p:nvPr userDrawn="1"/>
          </p:nvPicPr>
          <p:blipFill rotWithShape="1">
            <a:blip r:embed="rId19" cstate="email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backgroundRemoval t="10030" b="100000" l="0" r="9642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43000" y="0"/>
              <a:ext cx="1506220" cy="21697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Inhaltsplatzhalter 3"/>
            <p:cNvPicPr>
              <a:picLocks noChangeAspect="1"/>
            </p:cNvPicPr>
            <p:nvPr userDrawn="1"/>
          </p:nvPicPr>
          <p:blipFill rotWithShape="1">
            <a:blip r:embed="rId21" cstate="email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backgroundRemoval t="10430" b="100000" l="23026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65100"/>
              <a:ext cx="2292350" cy="20027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Textfeld 7"/>
            <p:cNvSpPr txBox="1"/>
            <p:nvPr userDrawn="1"/>
          </p:nvSpPr>
          <p:spPr>
            <a:xfrm>
              <a:off x="101077" y="1927492"/>
              <a:ext cx="2382523" cy="9104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de-DE" sz="933" b="1" spc="0" dirty="0">
                  <a:solidFill>
                    <a:srgbClr val="000000"/>
                  </a:solidFill>
                  <a:effectLst/>
                  <a:latin typeface="Bahnschrift Light" panose="020B0502040204020203" pitchFamily="34" charset="0"/>
                  <a:ea typeface="Arial" panose="020B0604020202020204" pitchFamily="34" charset="0"/>
                </a:rPr>
                <a:t>Training</a:t>
              </a:r>
              <a:endParaRPr lang="en-GB" sz="933" b="1" spc="0" dirty="0">
                <a:effectLst/>
                <a:latin typeface="Bahnschrift Light" panose="020B0502040204020203" pitchFamily="34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" name="Rechteck 1"/>
          <p:cNvSpPr/>
          <p:nvPr userDrawn="1"/>
        </p:nvSpPr>
        <p:spPr>
          <a:xfrm>
            <a:off x="11776400" y="6519446"/>
            <a:ext cx="425116" cy="2974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8B8376E-7F0E-4E8B-89BF-38FA73E7CC53}" type="slidenum">
              <a:rPr lang="de-DE" sz="1333" smtClean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</a:rPr>
              <a:t>‹#›</a:t>
            </a:fld>
            <a:endParaRPr lang="en-GB" sz="1333" dirty="0"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95636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2050"/>
          <p:cNvSpPr txBox="1">
            <a:spLocks noChangeArrowheads="1"/>
          </p:cNvSpPr>
          <p:nvPr/>
        </p:nvSpPr>
        <p:spPr bwMode="auto">
          <a:xfrm>
            <a:off x="1068025" y="1355675"/>
            <a:ext cx="5722515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de-DE" sz="3200" b="1" kern="0" dirty="0">
                <a:solidFill>
                  <a:srgbClr val="434343"/>
                </a:solidFill>
                <a:latin typeface="Josefin Sans" panose="020B0604020202020204" charset="0"/>
                <a:cs typeface="Arial"/>
                <a:sym typeface="Arial"/>
              </a:rPr>
              <a:t> PERSONAL </a:t>
            </a:r>
          </a:p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de-DE" sz="3200" b="1" kern="0" dirty="0">
                <a:solidFill>
                  <a:srgbClr val="434343"/>
                </a:solidFill>
                <a:latin typeface="Josefin Sans" panose="020B0604020202020204" charset="0"/>
                <a:cs typeface="Arial"/>
                <a:sym typeface="Arial"/>
              </a:rPr>
              <a:t>INITIATIVE</a:t>
            </a:r>
          </a:p>
          <a:p>
            <a:pPr defTabSz="1219170">
              <a:spcBef>
                <a:spcPct val="50000"/>
              </a:spcBef>
              <a:buClr>
                <a:srgbClr val="000000"/>
              </a:buClr>
            </a:pPr>
            <a:endParaRPr lang="de-DE" sz="3200" b="1" kern="0" dirty="0">
              <a:solidFill>
                <a:srgbClr val="434343"/>
              </a:solidFill>
              <a:latin typeface="Josefin Sans" panose="020B0604020202020204" charset="0"/>
              <a:cs typeface="Arial"/>
              <a:sym typeface="Arial"/>
            </a:endParaRPr>
          </a:p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fr-SN" sz="2800" b="1" kern="0" dirty="0">
                <a:solidFill>
                  <a:srgbClr val="434343"/>
                </a:solidFill>
                <a:latin typeface="Josefin Sans" panose="020B0604020202020204" charset="0"/>
                <a:cs typeface="Arial"/>
                <a:sym typeface="Arial"/>
              </a:rPr>
              <a:t>Self-</a:t>
            </a:r>
            <a:r>
              <a:rPr lang="fr-SN" sz="2800" b="1" kern="0" dirty="0" err="1">
                <a:solidFill>
                  <a:srgbClr val="434343"/>
                </a:solidFill>
                <a:latin typeface="Josefin Sans" panose="020B0604020202020204" charset="0"/>
                <a:cs typeface="Arial"/>
                <a:sym typeface="Arial"/>
              </a:rPr>
              <a:t>Starting</a:t>
            </a:r>
            <a:endParaRPr lang="fr-SN" sz="2800" b="1" kern="0" dirty="0">
              <a:solidFill>
                <a:srgbClr val="434343"/>
              </a:solidFill>
              <a:latin typeface="Josefin Sans" panose="020B0604020202020204" charset="0"/>
              <a:cs typeface="Arial"/>
              <a:sym typeface="Arial"/>
            </a:endParaRPr>
          </a:p>
        </p:txBody>
      </p:sp>
      <p:sp>
        <p:nvSpPr>
          <p:cNvPr id="2" name="Rechteck 1"/>
          <p:cNvSpPr/>
          <p:nvPr/>
        </p:nvSpPr>
        <p:spPr>
          <a:xfrm flipH="1">
            <a:off x="1017222" y="1674368"/>
            <a:ext cx="60959" cy="7640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de-DE" sz="1867" kern="0">
              <a:solidFill>
                <a:srgbClr val="EDEDED"/>
              </a:solidFill>
              <a:latin typeface="Arial"/>
              <a:sym typeface="Arial"/>
            </a:endParaRP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5593923" y="1674368"/>
            <a:ext cx="4440292" cy="385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35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43025" y="317500"/>
            <a:ext cx="9508211" cy="700088"/>
          </a:xfrm>
        </p:spPr>
        <p:txBody>
          <a:bodyPr/>
          <a:lstStyle/>
          <a:p>
            <a:r>
              <a:rPr lang="fr-FR" b="0" dirty="0">
                <a:solidFill>
                  <a:schemeClr val="accent3"/>
                </a:solidFill>
              </a:rPr>
              <a:t>WHAT YOU NEED TO DO </a:t>
            </a:r>
            <a:r>
              <a:rPr lang="fr-FR" b="0" dirty="0"/>
              <a:t>Self-</a:t>
            </a:r>
            <a:r>
              <a:rPr lang="fr-FR" b="0" dirty="0" err="1"/>
              <a:t>Starting</a:t>
            </a:r>
            <a:r>
              <a:rPr lang="fr-FR" b="0" dirty="0"/>
              <a:t> </a:t>
            </a:r>
          </a:p>
        </p:txBody>
      </p:sp>
      <p:sp>
        <p:nvSpPr>
          <p:cNvPr id="14" name="Google Shape;480;p42"/>
          <p:cNvSpPr/>
          <p:nvPr/>
        </p:nvSpPr>
        <p:spPr>
          <a:xfrm>
            <a:off x="2458825" y="1573371"/>
            <a:ext cx="232724" cy="158588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496;p42"/>
          <p:cNvSpPr txBox="1">
            <a:spLocks/>
          </p:cNvSpPr>
          <p:nvPr/>
        </p:nvSpPr>
        <p:spPr>
          <a:xfrm>
            <a:off x="1665215" y="1531775"/>
            <a:ext cx="9915443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spcAft>
                <a:spcPts val="1000"/>
              </a:spcAft>
              <a:buClr>
                <a:srgbClr val="769452"/>
              </a:buClr>
            </a:pPr>
            <a:r>
              <a:rPr lang="fr-FR" sz="1867" b="0" kern="0" dirty="0">
                <a:solidFill>
                  <a:srgbClr val="47362D"/>
                </a:solidFill>
              </a:rPr>
              <a:t>Don’t </a:t>
            </a:r>
            <a:r>
              <a:rPr lang="fr-FR" sz="1867" kern="0" dirty="0" err="1">
                <a:solidFill>
                  <a:srgbClr val="47362D"/>
                </a:solidFill>
              </a:rPr>
              <a:t>react</a:t>
            </a:r>
            <a:r>
              <a:rPr lang="fr-FR" sz="1867" kern="0" dirty="0">
                <a:solidFill>
                  <a:srgbClr val="47362D"/>
                </a:solidFill>
              </a:rPr>
              <a:t> </a:t>
            </a:r>
            <a:r>
              <a:rPr lang="fr-FR" sz="1867" b="0" kern="0" dirty="0">
                <a:solidFill>
                  <a:srgbClr val="47362D"/>
                </a:solidFill>
              </a:rPr>
              <a:t>to </a:t>
            </a:r>
            <a:r>
              <a:rPr lang="fr-FR" sz="1867" b="0" kern="0" dirty="0" err="1">
                <a:solidFill>
                  <a:srgbClr val="47362D"/>
                </a:solidFill>
              </a:rPr>
              <a:t>what’s</a:t>
            </a:r>
            <a:r>
              <a:rPr lang="fr-FR" sz="1867" b="0" kern="0" dirty="0">
                <a:solidFill>
                  <a:srgbClr val="47362D"/>
                </a:solidFill>
              </a:rPr>
              <a:t> happening </a:t>
            </a:r>
            <a:r>
              <a:rPr lang="fr-FR" sz="1867" b="0" kern="0" dirty="0" err="1">
                <a:solidFill>
                  <a:srgbClr val="47362D"/>
                </a:solidFill>
              </a:rPr>
              <a:t>around</a:t>
            </a:r>
            <a:r>
              <a:rPr lang="fr-FR" sz="1867" b="0" kern="0" dirty="0">
                <a:solidFill>
                  <a:srgbClr val="47362D"/>
                </a:solidFill>
              </a:rPr>
              <a:t> </a:t>
            </a:r>
            <a:r>
              <a:rPr lang="fr-FR" sz="1867" b="0" kern="0" dirty="0" err="1">
                <a:solidFill>
                  <a:srgbClr val="47362D"/>
                </a:solidFill>
              </a:rPr>
              <a:t>you</a:t>
            </a:r>
            <a:r>
              <a:rPr lang="fr-FR" sz="1867" b="0" kern="0" dirty="0">
                <a:solidFill>
                  <a:srgbClr val="47362D"/>
                </a:solidFill>
              </a:rPr>
              <a:t>.  </a:t>
            </a:r>
            <a:r>
              <a:rPr lang="fr-FR" sz="1867" kern="0" dirty="0" err="1">
                <a:solidFill>
                  <a:srgbClr val="47362D"/>
                </a:solidFill>
              </a:rPr>
              <a:t>Act</a:t>
            </a:r>
            <a:r>
              <a:rPr lang="fr-FR" sz="1867" kern="0" dirty="0">
                <a:solidFill>
                  <a:srgbClr val="47362D"/>
                </a:solidFill>
              </a:rPr>
              <a:t> first </a:t>
            </a:r>
            <a:r>
              <a:rPr lang="fr-FR" sz="1867" b="0" kern="0" dirty="0">
                <a:solidFill>
                  <a:srgbClr val="47362D"/>
                </a:solidFill>
              </a:rPr>
              <a:t>to </a:t>
            </a:r>
            <a:r>
              <a:rPr lang="fr-FR" sz="1867" b="0" kern="0" dirty="0" err="1">
                <a:solidFill>
                  <a:srgbClr val="47362D"/>
                </a:solidFill>
              </a:rPr>
              <a:t>outperform</a:t>
            </a:r>
            <a:r>
              <a:rPr lang="fr-FR" sz="1867" b="0" kern="0" dirty="0">
                <a:solidFill>
                  <a:srgbClr val="47362D"/>
                </a:solidFill>
              </a:rPr>
              <a:t> </a:t>
            </a:r>
            <a:r>
              <a:rPr lang="fr-FR" sz="1867" b="0" kern="0" dirty="0" err="1">
                <a:solidFill>
                  <a:srgbClr val="47362D"/>
                </a:solidFill>
              </a:rPr>
              <a:t>your</a:t>
            </a:r>
            <a:r>
              <a:rPr lang="fr-FR" sz="1867" b="0" kern="0" dirty="0">
                <a:solidFill>
                  <a:srgbClr val="47362D"/>
                </a:solidFill>
              </a:rPr>
              <a:t> </a:t>
            </a:r>
            <a:r>
              <a:rPr lang="fr-FR" sz="1867" b="0" kern="0" dirty="0" err="1">
                <a:solidFill>
                  <a:srgbClr val="47362D"/>
                </a:solidFill>
              </a:rPr>
              <a:t>competitors</a:t>
            </a:r>
            <a:r>
              <a:rPr lang="fr-FR" sz="1867" b="0" kern="0" dirty="0">
                <a:solidFill>
                  <a:srgbClr val="47362D"/>
                </a:solidFill>
              </a:rPr>
              <a:t>! </a:t>
            </a:r>
          </a:p>
        </p:txBody>
      </p:sp>
      <p:sp>
        <p:nvSpPr>
          <p:cNvPr id="16" name="Google Shape;497;p42"/>
          <p:cNvSpPr txBox="1">
            <a:spLocks/>
          </p:cNvSpPr>
          <p:nvPr/>
        </p:nvSpPr>
        <p:spPr>
          <a:xfrm>
            <a:off x="1665214" y="2141416"/>
            <a:ext cx="9915444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spcAft>
                <a:spcPts val="1000"/>
              </a:spcAft>
              <a:buClr>
                <a:srgbClr val="769452"/>
              </a:buClr>
            </a:pPr>
            <a:r>
              <a:rPr lang="fr-FR" sz="1867" kern="0" dirty="0">
                <a:solidFill>
                  <a:srgbClr val="47362D"/>
                </a:solidFill>
              </a:rPr>
              <a:t>DON’T</a:t>
            </a:r>
            <a:r>
              <a:rPr lang="fr-FR" sz="1867" b="0" kern="0" dirty="0">
                <a:solidFill>
                  <a:srgbClr val="47362D"/>
                </a:solidFill>
              </a:rPr>
              <a:t> copy competitors, you must offer something </a:t>
            </a:r>
            <a:r>
              <a:rPr lang="fr-FR" sz="1867" kern="0" dirty="0">
                <a:solidFill>
                  <a:srgbClr val="47362D"/>
                </a:solidFill>
              </a:rPr>
              <a:t>different</a:t>
            </a:r>
            <a:r>
              <a:rPr lang="fr-FR" sz="1867" b="0" kern="0" dirty="0">
                <a:solidFill>
                  <a:srgbClr val="47362D"/>
                </a:solidFill>
              </a:rPr>
              <a:t>. </a:t>
            </a:r>
          </a:p>
        </p:txBody>
      </p:sp>
      <p:sp>
        <p:nvSpPr>
          <p:cNvPr id="18" name="Google Shape;499;p42"/>
          <p:cNvSpPr txBox="1">
            <a:spLocks/>
          </p:cNvSpPr>
          <p:nvPr/>
        </p:nvSpPr>
        <p:spPr>
          <a:xfrm>
            <a:off x="1670330" y="2953984"/>
            <a:ext cx="9347236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spcAft>
                <a:spcPts val="1000"/>
              </a:spcAft>
              <a:buClr>
                <a:srgbClr val="769452"/>
              </a:buClr>
            </a:pPr>
            <a:endParaRPr lang="fr-FR" sz="1867" b="0" kern="0" dirty="0">
              <a:solidFill>
                <a:srgbClr val="434343"/>
              </a:solidFill>
            </a:endParaRPr>
          </a:p>
        </p:txBody>
      </p:sp>
      <p:sp>
        <p:nvSpPr>
          <p:cNvPr id="19" name="Google Shape;500;p42"/>
          <p:cNvSpPr txBox="1">
            <a:spLocks/>
          </p:cNvSpPr>
          <p:nvPr/>
        </p:nvSpPr>
        <p:spPr>
          <a:xfrm>
            <a:off x="1660802" y="2843146"/>
            <a:ext cx="9915445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434343"/>
              </a:buClr>
            </a:pPr>
            <a:r>
              <a:rPr lang="fr-FR" sz="1867" b="0" kern="0" dirty="0">
                <a:solidFill>
                  <a:srgbClr val="434343"/>
                </a:solidFill>
              </a:rPr>
              <a:t>If your circumstances are challenging, actively work to change them.  </a:t>
            </a:r>
            <a:endParaRPr lang="fr-FR" sz="1867" b="0" kern="0" dirty="0">
              <a:solidFill>
                <a:srgbClr val="43434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" name="Google Shape;501;p42"/>
          <p:cNvSpPr txBox="1">
            <a:spLocks/>
          </p:cNvSpPr>
          <p:nvPr/>
        </p:nvSpPr>
        <p:spPr>
          <a:xfrm>
            <a:off x="1660802" y="5034754"/>
            <a:ext cx="9854484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spcAft>
                <a:spcPts val="1000"/>
              </a:spcAft>
              <a:buClr>
                <a:srgbClr val="769452"/>
              </a:buClr>
            </a:pPr>
            <a:r>
              <a:rPr lang="fr-FR" sz="1867" b="0" kern="0" dirty="0">
                <a:solidFill>
                  <a:srgbClr val="434343"/>
                </a:solidFill>
              </a:rPr>
              <a:t>It is </a:t>
            </a:r>
            <a:r>
              <a:rPr lang="fr-FR" sz="1867" kern="0" dirty="0">
                <a:solidFill>
                  <a:srgbClr val="A3B58B">
                    <a:lumMod val="75000"/>
                  </a:srgbClr>
                </a:solidFill>
              </a:rPr>
              <a:t>actions</a:t>
            </a:r>
            <a:r>
              <a:rPr lang="fr-FR" sz="1867" b="0" kern="0" dirty="0">
                <a:solidFill>
                  <a:srgbClr val="434343"/>
                </a:solidFill>
              </a:rPr>
              <a:t> that turn ideas into reality - get up and do it!  </a:t>
            </a:r>
            <a:endParaRPr lang="fr-FR" sz="1867" b="0" kern="0" dirty="0">
              <a:solidFill>
                <a:srgbClr val="47362D"/>
              </a:solidFill>
            </a:endParaRPr>
          </a:p>
        </p:txBody>
      </p:sp>
      <p:sp>
        <p:nvSpPr>
          <p:cNvPr id="73" name="Google Shape;501;p42"/>
          <p:cNvSpPr txBox="1">
            <a:spLocks/>
          </p:cNvSpPr>
          <p:nvPr/>
        </p:nvSpPr>
        <p:spPr>
          <a:xfrm>
            <a:off x="1701095" y="3853093"/>
            <a:ext cx="9875152" cy="33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spcAft>
                <a:spcPts val="1000"/>
              </a:spcAft>
              <a:buClr>
                <a:srgbClr val="769452"/>
              </a:buClr>
            </a:pPr>
            <a:r>
              <a:rPr lang="fr-FR" sz="1867" b="0" kern="0" dirty="0" err="1">
                <a:solidFill>
                  <a:srgbClr val="434343"/>
                </a:solidFill>
              </a:rPr>
              <a:t>Think</a:t>
            </a:r>
            <a:r>
              <a:rPr lang="fr-FR" sz="1867" b="0" kern="0" dirty="0">
                <a:solidFill>
                  <a:srgbClr val="434343"/>
                </a:solidFill>
              </a:rPr>
              <a:t> </a:t>
            </a:r>
            <a:r>
              <a:rPr lang="fr-FR" sz="1867" b="0" kern="0" dirty="0" err="1">
                <a:solidFill>
                  <a:srgbClr val="434343"/>
                </a:solidFill>
              </a:rPr>
              <a:t>before</a:t>
            </a:r>
            <a:r>
              <a:rPr lang="fr-FR" sz="1867" b="0" kern="0" dirty="0">
                <a:solidFill>
                  <a:srgbClr val="434343"/>
                </a:solidFill>
              </a:rPr>
              <a:t> </a:t>
            </a:r>
            <a:r>
              <a:rPr lang="fr-FR" sz="1867" b="0" kern="0" dirty="0" err="1">
                <a:solidFill>
                  <a:srgbClr val="434343"/>
                </a:solidFill>
              </a:rPr>
              <a:t>you</a:t>
            </a:r>
            <a:r>
              <a:rPr lang="fr-FR" sz="1867" b="0" kern="0" dirty="0">
                <a:solidFill>
                  <a:srgbClr val="434343"/>
                </a:solidFill>
              </a:rPr>
              <a:t> </a:t>
            </a:r>
            <a:r>
              <a:rPr lang="fr-FR" sz="1867" b="0" kern="0" dirty="0" err="1">
                <a:solidFill>
                  <a:srgbClr val="434343"/>
                </a:solidFill>
              </a:rPr>
              <a:t>act</a:t>
            </a:r>
            <a:r>
              <a:rPr lang="fr-FR" sz="1867" b="0" kern="0" dirty="0">
                <a:solidFill>
                  <a:srgbClr val="434343"/>
                </a:solidFill>
              </a:rPr>
              <a:t> - </a:t>
            </a:r>
            <a:r>
              <a:rPr lang="fr-FR" sz="1867" b="0" kern="0" dirty="0" err="1">
                <a:solidFill>
                  <a:srgbClr val="434343"/>
                </a:solidFill>
              </a:rPr>
              <a:t>random</a:t>
            </a:r>
            <a:r>
              <a:rPr lang="fr-FR" sz="1867" b="0" kern="0" dirty="0">
                <a:solidFill>
                  <a:srgbClr val="434343"/>
                </a:solidFill>
              </a:rPr>
              <a:t> actions are </a:t>
            </a:r>
            <a:r>
              <a:rPr lang="fr-FR" sz="1867" b="0" kern="0" dirty="0" err="1">
                <a:solidFill>
                  <a:srgbClr val="434343"/>
                </a:solidFill>
              </a:rPr>
              <a:t>useless</a:t>
            </a:r>
            <a:r>
              <a:rPr lang="fr-FR" sz="1867" b="0" kern="0" dirty="0">
                <a:solidFill>
                  <a:srgbClr val="434343"/>
                </a:solidFill>
              </a:rPr>
              <a:t>. </a:t>
            </a:r>
            <a:br>
              <a:rPr lang="fr-FR" sz="1867" b="0" kern="0" dirty="0">
                <a:solidFill>
                  <a:srgbClr val="434343"/>
                </a:solidFill>
              </a:rPr>
            </a:br>
            <a:endParaRPr lang="fr-FR" sz="1867" b="0" kern="0" dirty="0">
              <a:solidFill>
                <a:srgbClr val="434343"/>
              </a:solidFill>
            </a:endParaRPr>
          </a:p>
        </p:txBody>
      </p:sp>
      <p:cxnSp>
        <p:nvCxnSpPr>
          <p:cNvPr id="116" name="Google Shape;472;p42"/>
          <p:cNvCxnSpPr>
            <a:cxnSpLocks/>
          </p:cNvCxnSpPr>
          <p:nvPr/>
        </p:nvCxnSpPr>
        <p:spPr>
          <a:xfrm>
            <a:off x="1015008" y="1981497"/>
            <a:ext cx="8321045" cy="27875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rafik 13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5927" y="1429079"/>
            <a:ext cx="534875" cy="463848"/>
          </a:xfrm>
          <a:prstGeom prst="rect">
            <a:avLst/>
          </a:prstGeom>
        </p:spPr>
      </p:pic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5927" y="2067775"/>
            <a:ext cx="534875" cy="463848"/>
          </a:xfrm>
          <a:prstGeom prst="rect">
            <a:avLst/>
          </a:prstGeom>
        </p:spPr>
      </p:pic>
      <p:pic>
        <p:nvPicPr>
          <p:cNvPr id="137" name="Grafik 13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5927" y="2756212"/>
            <a:ext cx="534875" cy="463848"/>
          </a:xfrm>
          <a:prstGeom prst="rect">
            <a:avLst/>
          </a:prstGeom>
        </p:spPr>
      </p:pic>
      <p:pic>
        <p:nvPicPr>
          <p:cNvPr id="138" name="Grafik 13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5927" y="3514097"/>
            <a:ext cx="534875" cy="463848"/>
          </a:xfrm>
          <a:prstGeom prst="rect">
            <a:avLst/>
          </a:prstGeom>
        </p:spPr>
      </p:pic>
      <p:pic>
        <p:nvPicPr>
          <p:cNvPr id="139" name="Grafik 138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5927" y="4212144"/>
            <a:ext cx="534875" cy="463848"/>
          </a:xfrm>
          <a:prstGeom prst="rect">
            <a:avLst/>
          </a:prstGeom>
        </p:spPr>
      </p:pic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455" y="4896555"/>
            <a:ext cx="534875" cy="463848"/>
          </a:xfrm>
          <a:prstGeom prst="rect">
            <a:avLst/>
          </a:prstGeom>
        </p:spPr>
      </p:pic>
      <p:cxnSp>
        <p:nvCxnSpPr>
          <p:cNvPr id="143" name="Google Shape;472;p42"/>
          <p:cNvCxnSpPr>
            <a:cxnSpLocks/>
          </p:cNvCxnSpPr>
          <p:nvPr/>
        </p:nvCxnSpPr>
        <p:spPr>
          <a:xfrm flipV="1">
            <a:off x="998752" y="2559252"/>
            <a:ext cx="8199435" cy="42337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472;p42"/>
          <p:cNvCxnSpPr>
            <a:cxnSpLocks/>
          </p:cNvCxnSpPr>
          <p:nvPr/>
        </p:nvCxnSpPr>
        <p:spPr>
          <a:xfrm flipV="1">
            <a:off x="998751" y="3359998"/>
            <a:ext cx="8337303" cy="34303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472;p42"/>
          <p:cNvCxnSpPr/>
          <p:nvPr/>
        </p:nvCxnSpPr>
        <p:spPr>
          <a:xfrm>
            <a:off x="998750" y="4147157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Google Shape;472;p42"/>
          <p:cNvCxnSpPr/>
          <p:nvPr/>
        </p:nvCxnSpPr>
        <p:spPr>
          <a:xfrm>
            <a:off x="1015009" y="4801907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472;p42"/>
          <p:cNvCxnSpPr/>
          <p:nvPr/>
        </p:nvCxnSpPr>
        <p:spPr>
          <a:xfrm>
            <a:off x="998750" y="5585908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F2040F-2D71-4997-583A-0900B8DB75DD}"/>
              </a:ext>
            </a:extLst>
          </p:cNvPr>
          <p:cNvSpPr txBox="1"/>
          <p:nvPr/>
        </p:nvSpPr>
        <p:spPr>
          <a:xfrm>
            <a:off x="1701095" y="4251601"/>
            <a:ext cx="9150141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fr-FR" sz="1867" b="1" kern="0" dirty="0">
                <a:solidFill>
                  <a:srgbClr val="769452"/>
                </a:solidFill>
                <a:latin typeface="Josefin Sans" pitchFamily="2" charset="0"/>
                <a:cs typeface="Arial"/>
                <a:sym typeface="Arial"/>
              </a:rPr>
              <a:t>But: </a:t>
            </a:r>
            <a:r>
              <a:rPr lang="fr-FR" sz="1867" kern="0" dirty="0">
                <a:solidFill>
                  <a:srgbClr val="454545"/>
                </a:solidFill>
                <a:latin typeface="Josefin Sans" pitchFamily="2" charset="0"/>
                <a:cs typeface="Arial"/>
                <a:sym typeface="Arial"/>
              </a:rPr>
              <a:t>Be quick – you’ve got to collect feedback before implementing actions</a:t>
            </a:r>
            <a:endParaRPr lang="en-GB" sz="1867" kern="0" dirty="0">
              <a:solidFill>
                <a:srgbClr val="454545"/>
              </a:solidFill>
              <a:latin typeface="Josefin Sans" pitchFamily="2" charset="0"/>
              <a:cs typeface="Arial"/>
              <a:sym typeface="Arial"/>
            </a:endParaRPr>
          </a:p>
        </p:txBody>
      </p:sp>
      <p:pic>
        <p:nvPicPr>
          <p:cNvPr id="3" name="Grafik 5">
            <a:extLst>
              <a:ext uri="{FF2B5EF4-FFF2-40B4-BE49-F238E27FC236}">
                <a16:creationId xmlns:a16="http://schemas.microsoft.com/office/drawing/2014/main" id="{A8CB8C96-E355-1929-1B42-8BA6C313142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8870153" y="1988858"/>
            <a:ext cx="2531951" cy="212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1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1750E40-EDEB-4138-ABF2-BBBD3B888A8B}"/>
              </a:ext>
            </a:extLst>
          </p:cNvPr>
          <p:cNvSpPr/>
          <p:nvPr/>
        </p:nvSpPr>
        <p:spPr bwMode="auto">
          <a:xfrm>
            <a:off x="7536200" y="6488605"/>
            <a:ext cx="3512800" cy="36939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:p14="http://schemas.microsoft.com/office/powerpoint/2010/main" xmlns:a16="http://schemas.microsoft.com/office/drawing/2014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1600" kern="0">
              <a:solidFill>
                <a:srgbClr val="434343"/>
              </a:solidFill>
              <a:latin typeface="Arial" charset="0"/>
              <a:cs typeface="Arial"/>
              <a:sym typeface="Arial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1852961" y="190464"/>
            <a:ext cx="9575800" cy="700617"/>
          </a:xfrm>
          <a:noFill/>
        </p:spPr>
        <p:txBody>
          <a:bodyPr/>
          <a:lstStyle/>
          <a:p>
            <a:r>
              <a:rPr lang="fr-FR" sz="2667" dirty="0">
                <a:solidFill>
                  <a:schemeClr val="tx1"/>
                </a:solidFill>
              </a:rPr>
              <a:t>REACTIVE AND PROACTIVE BEHAVIOUR</a:t>
            </a:r>
          </a:p>
        </p:txBody>
      </p:sp>
      <p:graphicFrame>
        <p:nvGraphicFramePr>
          <p:cNvPr id="18" name="Inhaltsplatzhalter 4">
            <a:extLst>
              <a:ext uri="{FF2B5EF4-FFF2-40B4-BE49-F238E27FC236}">
                <a16:creationId xmlns:a16="http://schemas.microsoft.com/office/drawing/2014/main" id="{F6903A5F-AC8B-46B0-A190-61B109DB760C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918634" y="1240957"/>
          <a:ext cx="10621820" cy="80083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8229">
                  <a:extLst>
                    <a:ext uri="{9D8B030D-6E8A-4147-A177-3AD203B41FA5}">
                      <a16:colId xmlns:a16="http://schemas.microsoft.com/office/drawing/2014/main" val="570828592"/>
                    </a:ext>
                  </a:extLst>
                </a:gridCol>
                <a:gridCol w="4943591">
                  <a:extLst>
                    <a:ext uri="{9D8B030D-6E8A-4147-A177-3AD203B41FA5}">
                      <a16:colId xmlns:a16="http://schemas.microsoft.com/office/drawing/2014/main" val="163810553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b="1" noProof="0" dirty="0">
                          <a:latin typeface="Poppins" panose="020B0604020202020204" charset="0"/>
                          <a:cs typeface="Poppins" panose="020B0604020202020204" charset="0"/>
                        </a:rPr>
                        <a:t>LAID BACK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noProof="0" dirty="0">
                          <a:latin typeface="Poppins" panose="020B0604020202020204" charset="0"/>
                          <a:cs typeface="Poppins" panose="020B0604020202020204" charset="0"/>
                        </a:rPr>
                        <a:t>GET UP AND DO IT!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9938519"/>
                  </a:ext>
                </a:extLst>
              </a:tr>
              <a:tr h="1161627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lang="fr-FR" sz="16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r>
                        <a:rPr lang="fr-FR" sz="16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Imitate/copy exactly what competitors are doing</a:t>
                      </a:r>
                      <a:endParaRPr lang="fr-FR" sz="1600" b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Bef>
                          <a:spcPts val="2000"/>
                        </a:spcBef>
                        <a:buClr>
                          <a:schemeClr val="accent3"/>
                        </a:buClr>
                        <a:buFont typeface="Arial" panose="020B0604020202020204" pitchFamily="34" charset="0"/>
                        <a:buChar char="→"/>
                      </a:pPr>
                      <a:endParaRPr lang="fr-FR" sz="1600" b="1" dirty="0">
                        <a:solidFill>
                          <a:schemeClr val="tx1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  <a:p>
                      <a:pPr marL="285750" indent="-285750">
                        <a:spcBef>
                          <a:spcPts val="2000"/>
                        </a:spcBef>
                        <a:buClr>
                          <a:schemeClr val="accent3"/>
                        </a:buClr>
                        <a:buFont typeface="Arial" panose="020B0604020202020204" pitchFamily="34" charset="0"/>
                        <a:buChar char="→"/>
                      </a:pPr>
                      <a:r>
                        <a:rPr lang="fr-FR" sz="1600" b="1" dirty="0">
                          <a:solidFill>
                            <a:schemeClr val="tx1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Being different - doing something new</a:t>
                      </a:r>
                      <a:br>
                        <a:rPr lang="fr-FR" sz="1600" b="1" dirty="0">
                          <a:solidFill>
                            <a:schemeClr val="tx1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</a:br>
                      <a:r>
                        <a:rPr lang="fr-FR" sz="16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Learn</a:t>
                      </a:r>
                      <a:r>
                        <a:rPr lang="fr-FR" sz="1600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 from others, but be different</a:t>
                      </a:r>
                      <a:endParaRPr lang="fr-FR" sz="1600" b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634332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Complaining about things and hoping they will get better</a:t>
                      </a:r>
                      <a:endParaRPr lang="fr-FR" sz="1600" b="0" dirty="0">
                        <a:solidFill>
                          <a:schemeClr val="tx1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3"/>
                        </a:buClr>
                        <a:buFont typeface="Arial" panose="020B0604020202020204" pitchFamily="34" charset="0"/>
                        <a:buChar char="→"/>
                      </a:pPr>
                      <a:r>
                        <a:rPr lang="fr-FR" sz="1600" b="1" dirty="0" err="1">
                          <a:solidFill>
                            <a:schemeClr val="tx1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Changing</a:t>
                      </a:r>
                      <a:r>
                        <a:rPr lang="fr-FR" sz="1600" b="1" dirty="0">
                          <a:solidFill>
                            <a:schemeClr val="tx1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 </a:t>
                      </a:r>
                      <a:r>
                        <a:rPr lang="fr-FR" sz="1600" b="1" dirty="0" err="1">
                          <a:solidFill>
                            <a:schemeClr val="tx1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difficult</a:t>
                      </a:r>
                      <a:r>
                        <a:rPr lang="fr-FR" sz="1600" b="1" dirty="0">
                          <a:solidFill>
                            <a:schemeClr val="tx1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 circumstances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222676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Waiting for people to give you information</a:t>
                      </a:r>
                      <a:endParaRPr lang="fr-FR" sz="1600" b="0" dirty="0">
                        <a:solidFill>
                          <a:schemeClr val="tx1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3"/>
                        </a:buClr>
                        <a:buFont typeface="Arial" panose="020B0604020202020204" pitchFamily="34" charset="0"/>
                        <a:buChar char="→"/>
                      </a:pPr>
                      <a:r>
                        <a:rPr lang="fr-FR" sz="1600" b="1" dirty="0">
                          <a:solidFill>
                            <a:schemeClr val="tx1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Actively seeking information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637571"/>
                  </a:ext>
                </a:extLst>
              </a:tr>
              <a:tr h="318008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r>
                        <a:rPr lang="fr-FR" sz="1600" dirty="0">
                          <a:solidFill>
                            <a:srgbClr val="47362D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Rely only on what you already know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lang="fr-FR" sz="1600" kern="1200" dirty="0">
                        <a:solidFill>
                          <a:srgbClr val="47362D"/>
                        </a:solidFill>
                        <a:latin typeface="Poppins" panose="020B0604020202020204" charset="0"/>
                        <a:ea typeface="+mn-ea"/>
                        <a:cs typeface="Poppins" panose="020B060402020202020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rgbClr val="47362D"/>
                          </a:solidFill>
                          <a:latin typeface="Poppins" panose="020B0604020202020204" charset="0"/>
                          <a:ea typeface="+mn-ea"/>
                          <a:cs typeface="Poppins" panose="020B0604020202020204" charset="0"/>
                        </a:rPr>
                        <a:t>Waiting for ideas to show themselves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lang="fr-FR" sz="1600" dirty="0">
                        <a:solidFill>
                          <a:srgbClr val="47362D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r>
                        <a:rPr lang="fr-FR" sz="1600" dirty="0">
                          <a:solidFill>
                            <a:srgbClr val="47362D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Wait for the right circumstances to realise your ideas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lang="fr-FR" sz="1600" dirty="0">
                        <a:solidFill>
                          <a:srgbClr val="47362D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rgbClr val="47362D"/>
                          </a:solidFill>
                          <a:latin typeface="Poppins" panose="020B0604020202020204" charset="0"/>
                          <a:ea typeface="+mn-ea"/>
                          <a:cs typeface="Poppins" panose="020B0604020202020204" charset="0"/>
                        </a:rPr>
                        <a:t>Sticking to old habits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lang="fr-FR" sz="1600" dirty="0">
                        <a:solidFill>
                          <a:srgbClr val="47362D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lang="fr-FR" sz="1600" kern="1200" dirty="0">
                        <a:solidFill>
                          <a:srgbClr val="47362D"/>
                        </a:solidFill>
                        <a:latin typeface="Poppins" panose="020B0604020202020204" charset="0"/>
                        <a:ea typeface="+mn-ea"/>
                        <a:cs typeface="Poppins" panose="020B060402020202020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1" i="0" dirty="0">
                          <a:solidFill>
                            <a:schemeClr val="accent3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 </a:t>
                      </a:r>
                      <a:r>
                        <a:rPr lang="de-DE" sz="2700" b="1" i="0" dirty="0">
                          <a:solidFill>
                            <a:schemeClr val="accent3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FAILURE</a:t>
                      </a:r>
                      <a:endParaRPr lang="fr-FR" sz="2700" b="0" dirty="0">
                        <a:solidFill>
                          <a:srgbClr val="47362D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Arial" panose="020B0604020202020204" pitchFamily="34" charset="0"/>
                        <a:buChar char="→"/>
                        <a:tabLst/>
                        <a:defRPr/>
                      </a:pPr>
                      <a:r>
                        <a:rPr lang="fr-FR" sz="1600" b="1" kern="1200" dirty="0">
                          <a:solidFill>
                            <a:schemeClr val="tx1"/>
                          </a:solidFill>
                          <a:latin typeface="Poppins" panose="020B0604020202020204" charset="0"/>
                          <a:ea typeface="+mn-ea"/>
                          <a:cs typeface="Poppins" panose="020B0604020202020204" charset="0"/>
                        </a:rPr>
                        <a:t>Actively seeking new ideas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Arial" panose="020B0604020202020204" pitchFamily="34" charset="0"/>
                        <a:buChar char="→"/>
                        <a:tabLst/>
                        <a:defRPr/>
                      </a:pPr>
                      <a:endParaRPr lang="fr-FR" sz="1600" b="1" kern="1200" dirty="0">
                        <a:solidFill>
                          <a:schemeClr val="tx1"/>
                        </a:solidFill>
                        <a:latin typeface="Poppins" panose="020B0604020202020204" charset="0"/>
                        <a:ea typeface="+mn-ea"/>
                        <a:cs typeface="Poppins" panose="020B0604020202020204" charset="0"/>
                      </a:endParaRPr>
                    </a:p>
                    <a:p>
                      <a:pPr marL="285750" indent="-285750">
                        <a:buClr>
                          <a:schemeClr val="accent3"/>
                        </a:buClr>
                        <a:buFont typeface="Arial" panose="020B0604020202020204" pitchFamily="34" charset="0"/>
                        <a:buChar char="→"/>
                      </a:pPr>
                      <a:r>
                        <a:rPr lang="fr-FR" sz="1600" b="1" dirty="0">
                          <a:solidFill>
                            <a:schemeClr val="tx1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Seeking opportunities to learn </a:t>
                      </a:r>
                    </a:p>
                    <a:p>
                      <a:pPr marL="285750" indent="-285750">
                        <a:buClr>
                          <a:schemeClr val="accent3"/>
                        </a:buClr>
                        <a:buFont typeface="Arial" panose="020B0604020202020204" pitchFamily="34" charset="0"/>
                        <a:buChar char="→"/>
                      </a:pPr>
                      <a:endParaRPr lang="fr-FR" sz="1600" b="1" dirty="0">
                        <a:solidFill>
                          <a:schemeClr val="tx1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Arial" panose="020B0604020202020204" pitchFamily="34" charset="0"/>
                        <a:buChar char="→"/>
                        <a:tabLst/>
                        <a:defRPr/>
                      </a:pPr>
                      <a:r>
                        <a:rPr lang="fr-FR" sz="1600" b="1" dirty="0">
                          <a:solidFill>
                            <a:srgbClr val="47362D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Realise your ideas now</a:t>
                      </a:r>
                    </a:p>
                    <a:p>
                      <a:pPr marL="285750" indent="-285750">
                        <a:buClr>
                          <a:schemeClr val="accent3"/>
                        </a:buClr>
                        <a:buFont typeface="Arial" panose="020B0604020202020204" pitchFamily="34" charset="0"/>
                        <a:buChar char="→"/>
                      </a:pPr>
                      <a:endParaRPr lang="fr-FR" sz="1600" b="1" dirty="0">
                        <a:solidFill>
                          <a:schemeClr val="tx1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Arial" panose="020B0604020202020204" pitchFamily="34" charset="0"/>
                        <a:buChar char="→"/>
                        <a:tabLst/>
                        <a:defRPr/>
                      </a:pPr>
                      <a:r>
                        <a:rPr lang="fr-FR" sz="1600" b="1" kern="1200" dirty="0">
                          <a:solidFill>
                            <a:srgbClr val="47362D"/>
                          </a:solidFill>
                          <a:effectLst/>
                          <a:latin typeface="Poppins" panose="020B0604020202020204" charset="0"/>
                          <a:ea typeface="+mn-ea"/>
                          <a:cs typeface="Poppins" panose="020B0604020202020204" charset="0"/>
                        </a:rPr>
                        <a:t>Trying new methods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Arial" panose="020B0604020202020204" pitchFamily="34" charset="0"/>
                        <a:buChar char="→"/>
                        <a:tabLst/>
                        <a:defRPr/>
                      </a:pPr>
                      <a:endParaRPr lang="de-DE" sz="1600" b="1" i="0" dirty="0">
                        <a:solidFill>
                          <a:schemeClr val="accent3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Arial" panose="020B0604020202020204" pitchFamily="34" charset="0"/>
                        <a:buChar char="→"/>
                        <a:tabLst/>
                        <a:defRPr/>
                      </a:pPr>
                      <a:endParaRPr lang="de-DE" sz="1600" b="1" i="0" dirty="0">
                        <a:solidFill>
                          <a:schemeClr val="accent3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Arial" panose="020B0604020202020204" pitchFamily="34" charset="0"/>
                        <a:buChar char="→"/>
                        <a:tabLst/>
                        <a:defRPr/>
                      </a:pPr>
                      <a:endParaRPr lang="de-DE" sz="1600" b="1" i="0" dirty="0">
                        <a:solidFill>
                          <a:schemeClr val="accent3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700" b="1" i="0" dirty="0">
                          <a:solidFill>
                            <a:schemeClr val="accent3"/>
                          </a:solidFill>
                          <a:latin typeface="Poppins" panose="020B0604020202020204" charset="0"/>
                          <a:cs typeface="Poppins" panose="020B0604020202020204" charset="0"/>
                        </a:rPr>
                        <a:t>SUCCESS!</a:t>
                      </a:r>
                      <a:endParaRPr lang="fr-FR" sz="2700" b="1" i="0" dirty="0">
                        <a:solidFill>
                          <a:schemeClr val="accent3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  <a:p>
                      <a:pPr marL="285750" indent="-285750">
                        <a:buClr>
                          <a:schemeClr val="accent3"/>
                        </a:buClr>
                        <a:buFont typeface="Arial" panose="020B0604020202020204" pitchFamily="34" charset="0"/>
                        <a:buChar char="→"/>
                      </a:pPr>
                      <a:endParaRPr lang="fr-FR" sz="1600" b="1" dirty="0">
                        <a:solidFill>
                          <a:schemeClr val="tx1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9025766"/>
                  </a:ext>
                </a:extLst>
              </a:tr>
              <a:tr h="35816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lang="fr-FR" sz="1600" b="0" dirty="0">
                        <a:solidFill>
                          <a:srgbClr val="47362D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Clr>
                          <a:schemeClr val="accent3"/>
                        </a:buClr>
                        <a:buFont typeface="Arial" panose="020B0604020202020204" pitchFamily="34" charset="0"/>
                        <a:buNone/>
                      </a:pPr>
                      <a:endParaRPr lang="fr-FR" sz="1600" b="1" dirty="0">
                        <a:solidFill>
                          <a:schemeClr val="tx1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504156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lang="fr-FR" sz="1600" kern="1200" dirty="0">
                        <a:solidFill>
                          <a:srgbClr val="47362D"/>
                        </a:solidFill>
                        <a:latin typeface="Poppins" panose="020B0604020202020204" charset="0"/>
                        <a:ea typeface="+mn-ea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600" kern="1200" dirty="0">
                        <a:solidFill>
                          <a:schemeClr val="tx1"/>
                        </a:solidFill>
                        <a:latin typeface="Poppins" panose="020B0604020202020204" charset="0"/>
                        <a:ea typeface="+mn-ea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100163"/>
                  </a:ext>
                </a:extLst>
              </a:tr>
              <a:tr h="435967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lang="fr-FR" sz="1600" dirty="0">
                        <a:solidFill>
                          <a:srgbClr val="47362D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3"/>
                        </a:buClr>
                        <a:buFont typeface="Arial" panose="020B0604020202020204" pitchFamily="34" charset="0"/>
                        <a:buChar char="→"/>
                      </a:pPr>
                      <a:endParaRPr lang="fr-FR" sz="1600" b="1" dirty="0">
                        <a:solidFill>
                          <a:srgbClr val="47362D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731458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Char char="-"/>
                        <a:tabLst/>
                        <a:defRPr/>
                      </a:pPr>
                      <a:endParaRPr lang="fr-FR" sz="1600" kern="1200" dirty="0">
                        <a:solidFill>
                          <a:srgbClr val="47362D"/>
                        </a:solidFill>
                        <a:latin typeface="Poppins" panose="020B0604020202020204" charset="0"/>
                        <a:ea typeface="+mn-ea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Arial" panose="020B0604020202020204" pitchFamily="34" charset="0"/>
                        <a:buChar char="→"/>
                        <a:tabLst/>
                        <a:defRPr/>
                      </a:pPr>
                      <a:endParaRPr lang="fr-FR" sz="1600" kern="1200" dirty="0">
                        <a:solidFill>
                          <a:srgbClr val="47362D"/>
                        </a:solidFill>
                        <a:effectLst/>
                        <a:latin typeface="Poppins" panose="020B0604020202020204" charset="0"/>
                        <a:ea typeface="+mn-ea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481479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lang="fr-FR" sz="1600" b="0" dirty="0">
                        <a:solidFill>
                          <a:srgbClr val="47362D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600" b="1" dirty="0">
                        <a:solidFill>
                          <a:srgbClr val="47362D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36133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1" i="0" dirty="0">
                        <a:solidFill>
                          <a:srgbClr val="FF0000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 i="0" dirty="0">
                        <a:solidFill>
                          <a:srgbClr val="FF0000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5321008"/>
                  </a:ext>
                </a:extLst>
              </a:tr>
              <a:tr h="3223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1" i="0" dirty="0">
                        <a:solidFill>
                          <a:srgbClr val="FF0000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 i="0" dirty="0">
                        <a:solidFill>
                          <a:srgbClr val="FF0000"/>
                        </a:solidFill>
                        <a:latin typeface="Poppins" panose="020B0604020202020204" charset="0"/>
                        <a:cs typeface="Poppins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7717999"/>
                  </a:ext>
                </a:extLst>
              </a:tr>
            </a:tbl>
          </a:graphicData>
        </a:graphic>
      </p:graphicFrame>
      <p:sp>
        <p:nvSpPr>
          <p:cNvPr id="2" name="Pfeil: nach unten 1">
            <a:extLst>
              <a:ext uri="{FF2B5EF4-FFF2-40B4-BE49-F238E27FC236}">
                <a16:creationId xmlns:a16="http://schemas.microsoft.com/office/drawing/2014/main" id="{F75AAA33-635B-436A-92A0-06291E4551C8}"/>
              </a:ext>
            </a:extLst>
          </p:cNvPr>
          <p:cNvSpPr/>
          <p:nvPr/>
        </p:nvSpPr>
        <p:spPr bwMode="auto">
          <a:xfrm>
            <a:off x="3790337" y="5144575"/>
            <a:ext cx="288040" cy="631613"/>
          </a:xfrm>
          <a:prstGeom prst="downArrow">
            <a:avLst>
              <a:gd name="adj1" fmla="val 43173"/>
              <a:gd name="adj2" fmla="val 50000"/>
            </a:avLst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:p14="http://schemas.microsoft.com/office/powerpoint/2010/main" xmlns:a16="http://schemas.microsoft.com/office/drawing/2014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1600" kern="0">
              <a:solidFill>
                <a:srgbClr val="434343"/>
              </a:solidFill>
              <a:latin typeface="Arial" charset="0"/>
              <a:cs typeface="Arial"/>
              <a:sym typeface="Arial"/>
            </a:endParaRPr>
          </a:p>
        </p:txBody>
      </p:sp>
      <p:sp>
        <p:nvSpPr>
          <p:cNvPr id="9" name="Pfeil: nach unten 8">
            <a:extLst>
              <a:ext uri="{FF2B5EF4-FFF2-40B4-BE49-F238E27FC236}">
                <a16:creationId xmlns:a16="http://schemas.microsoft.com/office/drawing/2014/main" id="{1C0C2676-173A-4B86-B6CF-C89ADD7562F2}"/>
              </a:ext>
            </a:extLst>
          </p:cNvPr>
          <p:cNvSpPr/>
          <p:nvPr/>
        </p:nvSpPr>
        <p:spPr bwMode="auto">
          <a:xfrm>
            <a:off x="8893207" y="5567554"/>
            <a:ext cx="288040" cy="631613"/>
          </a:xfrm>
          <a:prstGeom prst="downArrow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:p14="http://schemas.microsoft.com/office/powerpoint/2010/main" xmlns:a16="http://schemas.microsoft.com/office/drawing/2014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1600" kern="0">
              <a:solidFill>
                <a:srgbClr val="434343"/>
              </a:solidFill>
              <a:latin typeface="Arial" charset="0"/>
              <a:cs typeface="Arial"/>
              <a:sym typeface="Arial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6766493" y="891081"/>
            <a:ext cx="769707" cy="667716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8360" y="862944"/>
            <a:ext cx="1092909" cy="90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39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00AE68-7DEF-87DC-1ADD-42A9421E7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1865" y="3256867"/>
            <a:ext cx="3947636" cy="2810000"/>
          </a:xfrm>
        </p:spPr>
        <p:txBody>
          <a:bodyPr/>
          <a:lstStyle/>
          <a:p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When situations are difficult change them!</a:t>
            </a:r>
          </a:p>
          <a:p>
            <a:r>
              <a:rPr lang="en-GB" dirty="0"/>
              <a:t>With life threatening danger mounting for her people (and also herself), Esther bravely stepped forward to change the circumstances </a:t>
            </a:r>
          </a:p>
          <a:p>
            <a:pPr marL="186262" indent="0">
              <a:buNone/>
            </a:pPr>
            <a:r>
              <a:rPr lang="en-GB" dirty="0"/>
              <a:t>       Esther 4: 12-15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7440AA-EF25-5796-DD01-3161CECF7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Changing Difficult Circumstances</a:t>
            </a:r>
          </a:p>
        </p:txBody>
      </p:sp>
    </p:spTree>
    <p:extLst>
      <p:ext uri="{BB962C8B-B14F-4D97-AF65-F5344CB8AC3E}">
        <p14:creationId xmlns:p14="http://schemas.microsoft.com/office/powerpoint/2010/main" val="766074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/>
          <p:cNvSpPr/>
          <p:nvPr/>
        </p:nvSpPr>
        <p:spPr>
          <a:xfrm>
            <a:off x="4676005" y="1542601"/>
            <a:ext cx="6699076" cy="46489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de-DE" sz="1867" kern="0">
              <a:solidFill>
                <a:srgbClr val="434343"/>
              </a:solidFill>
              <a:latin typeface="Arial"/>
              <a:sym typeface="Arial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712325" y="285459"/>
            <a:ext cx="10132484" cy="698500"/>
          </a:xfrm>
          <a:noFill/>
        </p:spPr>
        <p:txBody>
          <a:bodyPr/>
          <a:lstStyle/>
          <a:p>
            <a:r>
              <a:rPr lang="fr-FR" dirty="0"/>
              <a:t>JUMP OUT OF YOUR COMFORT ZONE! </a:t>
            </a:r>
            <a:endParaRPr lang="fr-FR" noProof="0" dirty="0"/>
          </a:p>
        </p:txBody>
      </p:sp>
      <p:cxnSp>
        <p:nvCxnSpPr>
          <p:cNvPr id="78" name="Google Shape;469;p42"/>
          <p:cNvCxnSpPr/>
          <p:nvPr/>
        </p:nvCxnSpPr>
        <p:spPr>
          <a:xfrm flipV="1">
            <a:off x="4984955" y="2296254"/>
            <a:ext cx="5675503" cy="678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480;p42"/>
          <p:cNvSpPr/>
          <p:nvPr/>
        </p:nvSpPr>
        <p:spPr>
          <a:xfrm>
            <a:off x="5778567" y="1849477"/>
            <a:ext cx="173200" cy="173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5" name="Google Shape;496;p42"/>
          <p:cNvSpPr txBox="1">
            <a:spLocks/>
          </p:cNvSpPr>
          <p:nvPr/>
        </p:nvSpPr>
        <p:spPr>
          <a:xfrm>
            <a:off x="4984956" y="1764313"/>
            <a:ext cx="5675501" cy="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434343"/>
              </a:buClr>
            </a:pPr>
            <a:r>
              <a:rPr lang="fr-FR" sz="1867" b="0" kern="0" dirty="0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Look for new ideas and opportunities!</a:t>
            </a:r>
          </a:p>
        </p:txBody>
      </p:sp>
      <p:sp>
        <p:nvSpPr>
          <p:cNvPr id="106" name="Google Shape;497;p42"/>
          <p:cNvSpPr txBox="1">
            <a:spLocks/>
          </p:cNvSpPr>
          <p:nvPr/>
        </p:nvSpPr>
        <p:spPr>
          <a:xfrm>
            <a:off x="4984956" y="2489412"/>
            <a:ext cx="4378000" cy="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434343"/>
              </a:buClr>
            </a:pPr>
            <a:r>
              <a:rPr lang="de-DE" sz="1867" b="0" kern="0" dirty="0" err="1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Be </a:t>
            </a:r>
            <a:r>
              <a:rPr lang="fr-CD" sz="1867" b="0" kern="0" dirty="0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different</a:t>
            </a:r>
            <a:r>
              <a:rPr lang="de-DE" sz="1867" b="0" kern="0" dirty="0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!</a:t>
            </a:r>
          </a:p>
        </p:txBody>
      </p:sp>
      <p:sp>
        <p:nvSpPr>
          <p:cNvPr id="107" name="Google Shape;498;p42"/>
          <p:cNvSpPr txBox="1">
            <a:spLocks/>
          </p:cNvSpPr>
          <p:nvPr/>
        </p:nvSpPr>
        <p:spPr>
          <a:xfrm>
            <a:off x="4984956" y="3215213"/>
            <a:ext cx="5429537" cy="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434343"/>
              </a:buClr>
            </a:pPr>
            <a:r>
              <a:rPr lang="fr-FR" sz="1867" b="0" kern="0" dirty="0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Offer new products/services!</a:t>
            </a:r>
          </a:p>
        </p:txBody>
      </p:sp>
      <p:sp>
        <p:nvSpPr>
          <p:cNvPr id="108" name="Google Shape;499;p42"/>
          <p:cNvSpPr txBox="1">
            <a:spLocks/>
          </p:cNvSpPr>
          <p:nvPr/>
        </p:nvSpPr>
        <p:spPr>
          <a:xfrm>
            <a:off x="4984956" y="3918191"/>
            <a:ext cx="4378000" cy="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434343"/>
              </a:buClr>
            </a:pPr>
            <a:r>
              <a:rPr lang="en-US" sz="1867" b="0" kern="0" dirty="0" err="1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Learn new </a:t>
            </a:r>
            <a:r>
              <a:rPr lang="en-US" sz="1867" b="0" kern="0" dirty="0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things!</a:t>
            </a:r>
          </a:p>
        </p:txBody>
      </p:sp>
      <p:sp>
        <p:nvSpPr>
          <p:cNvPr id="109" name="Google Shape;500;p42"/>
          <p:cNvSpPr txBox="1">
            <a:spLocks/>
          </p:cNvSpPr>
          <p:nvPr/>
        </p:nvSpPr>
        <p:spPr>
          <a:xfrm>
            <a:off x="4984956" y="4661153"/>
            <a:ext cx="5819681" cy="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434343"/>
              </a:buClr>
            </a:pPr>
            <a:r>
              <a:rPr lang="fr-FR" sz="1867" b="0" kern="0" dirty="0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Introduce a new way of making/selling/offering!</a:t>
            </a:r>
          </a:p>
        </p:txBody>
      </p:sp>
      <p:sp>
        <p:nvSpPr>
          <p:cNvPr id="110" name="Google Shape;501;p42"/>
          <p:cNvSpPr txBox="1">
            <a:spLocks/>
          </p:cNvSpPr>
          <p:nvPr/>
        </p:nvSpPr>
        <p:spPr>
          <a:xfrm>
            <a:off x="4984956" y="5426983"/>
            <a:ext cx="4378000" cy="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defTabSz="1219170">
              <a:buClr>
                <a:srgbClr val="434343"/>
              </a:buClr>
            </a:pPr>
            <a:r>
              <a:rPr lang="fr-FR" sz="1867" b="0" kern="0" dirty="0">
                <a:solidFill>
                  <a:srgbClr val="434343"/>
                </a:solidFill>
                <a:latin typeface="Poppins Light"/>
                <a:ea typeface="Poppins Light"/>
                <a:cs typeface="Poppins Light"/>
                <a:sym typeface="Poppins Light"/>
              </a:rPr>
              <a:t>Set a goal and plan!</a:t>
            </a:r>
          </a:p>
        </p:txBody>
      </p:sp>
      <p:sp>
        <p:nvSpPr>
          <p:cNvPr id="61" name="Rechteck 60"/>
          <p:cNvSpPr/>
          <p:nvPr/>
        </p:nvSpPr>
        <p:spPr>
          <a:xfrm>
            <a:off x="859182" y="2693208"/>
            <a:ext cx="2756697" cy="2247341"/>
          </a:xfrm>
          <a:prstGeom prst="rect">
            <a:avLst/>
          </a:prstGeom>
          <a:solidFill>
            <a:schemeClr val="bg1">
              <a:lumMod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de-DE" sz="1867" kern="0">
              <a:solidFill>
                <a:srgbClr val="434343"/>
              </a:solidFill>
              <a:latin typeface="Arial"/>
              <a:sym typeface="Arial"/>
            </a:endParaRPr>
          </a:p>
        </p:txBody>
      </p:sp>
      <p:sp>
        <p:nvSpPr>
          <p:cNvPr id="112" name="Google Shape;503;p42"/>
          <p:cNvSpPr txBox="1">
            <a:spLocks/>
          </p:cNvSpPr>
          <p:nvPr/>
        </p:nvSpPr>
        <p:spPr>
          <a:xfrm>
            <a:off x="936835" y="3118317"/>
            <a:ext cx="2599261" cy="1397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ctr" defTabSz="1219170">
              <a:buClr>
                <a:srgbClr val="434343"/>
              </a:buClr>
            </a:pPr>
            <a:r>
              <a:rPr lang="de-DE" sz="2667" kern="0" dirty="0">
                <a:solidFill>
                  <a:srgbClr val="EDEDED">
                    <a:lumMod val="50000"/>
                  </a:srgbClr>
                </a:solidFill>
              </a:rPr>
              <a:t>YOUR REGULAR WORK</a:t>
            </a:r>
          </a:p>
        </p:txBody>
      </p:sp>
      <p:sp>
        <p:nvSpPr>
          <p:cNvPr id="150" name="Google Shape;503;p42"/>
          <p:cNvSpPr txBox="1">
            <a:spLocks/>
          </p:cNvSpPr>
          <p:nvPr/>
        </p:nvSpPr>
        <p:spPr>
          <a:xfrm>
            <a:off x="3469730" y="2032070"/>
            <a:ext cx="1279348" cy="3669972"/>
          </a:xfrm>
          <a:prstGeom prst="rect">
            <a:avLst/>
          </a:prstGeom>
          <a:noFill/>
          <a:ln>
            <a:noFill/>
          </a:ln>
        </p:spPr>
        <p:txBody>
          <a:bodyPr spcFirstLastPara="1" vert="vert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ctr" defTabSz="1219170">
              <a:buClr>
                <a:srgbClr val="434343"/>
              </a:buClr>
            </a:pPr>
            <a:r>
              <a:rPr lang="de-DE" sz="2667" kern="0" dirty="0">
                <a:solidFill>
                  <a:srgbClr val="769452"/>
                </a:solidFill>
              </a:rPr>
              <a:t>SELF-STARTING</a:t>
            </a:r>
          </a:p>
        </p:txBody>
      </p:sp>
      <p:grpSp>
        <p:nvGrpSpPr>
          <p:cNvPr id="151" name="Google Shape;655;p52"/>
          <p:cNvGrpSpPr/>
          <p:nvPr/>
        </p:nvGrpSpPr>
        <p:grpSpPr>
          <a:xfrm>
            <a:off x="9868351" y="3962145"/>
            <a:ext cx="706367" cy="445452"/>
            <a:chOff x="1190625" y="1114775"/>
            <a:chExt cx="5219200" cy="3465875"/>
          </a:xfrm>
        </p:grpSpPr>
        <p:sp>
          <p:nvSpPr>
            <p:cNvPr id="152" name="Google Shape;656;p52"/>
            <p:cNvSpPr/>
            <p:nvPr/>
          </p:nvSpPr>
          <p:spPr>
            <a:xfrm>
              <a:off x="1190625" y="1114775"/>
              <a:ext cx="5219200" cy="3465875"/>
            </a:xfrm>
            <a:custGeom>
              <a:avLst/>
              <a:gdLst/>
              <a:ahLst/>
              <a:cxnLst/>
              <a:rect l="l" t="t" r="r" b="b"/>
              <a:pathLst>
                <a:path w="208768" h="138635" extrusionOk="0">
                  <a:moveTo>
                    <a:pt x="192457" y="24465"/>
                  </a:moveTo>
                  <a:lnTo>
                    <a:pt x="192457" y="32620"/>
                  </a:lnTo>
                  <a:lnTo>
                    <a:pt x="45668" y="32620"/>
                  </a:lnTo>
                  <a:lnTo>
                    <a:pt x="45668" y="28543"/>
                  </a:lnTo>
                  <a:cubicBezTo>
                    <a:pt x="45668" y="26325"/>
                    <a:pt x="47527" y="24465"/>
                    <a:pt x="49745" y="24465"/>
                  </a:cubicBezTo>
                  <a:close/>
                  <a:moveTo>
                    <a:pt x="72416" y="40775"/>
                  </a:moveTo>
                  <a:lnTo>
                    <a:pt x="72416" y="48930"/>
                  </a:lnTo>
                  <a:lnTo>
                    <a:pt x="49745" y="48930"/>
                  </a:lnTo>
                  <a:cubicBezTo>
                    <a:pt x="47527" y="48930"/>
                    <a:pt x="45668" y="47071"/>
                    <a:pt x="45668" y="44853"/>
                  </a:cubicBezTo>
                  <a:lnTo>
                    <a:pt x="45668" y="40775"/>
                  </a:lnTo>
                  <a:close/>
                  <a:moveTo>
                    <a:pt x="192457" y="40775"/>
                  </a:moveTo>
                  <a:lnTo>
                    <a:pt x="192457" y="48930"/>
                  </a:lnTo>
                  <a:lnTo>
                    <a:pt x="98936" y="48930"/>
                  </a:lnTo>
                  <a:lnTo>
                    <a:pt x="98936" y="40775"/>
                  </a:lnTo>
                  <a:close/>
                  <a:moveTo>
                    <a:pt x="90781" y="40775"/>
                  </a:moveTo>
                  <a:lnTo>
                    <a:pt x="90781" y="58977"/>
                  </a:lnTo>
                  <a:lnTo>
                    <a:pt x="87323" y="57444"/>
                  </a:lnTo>
                  <a:cubicBezTo>
                    <a:pt x="86801" y="57199"/>
                    <a:pt x="86239" y="57077"/>
                    <a:pt x="85676" y="57077"/>
                  </a:cubicBezTo>
                  <a:cubicBezTo>
                    <a:pt x="85113" y="57077"/>
                    <a:pt x="84551" y="57199"/>
                    <a:pt x="84029" y="57444"/>
                  </a:cubicBezTo>
                  <a:lnTo>
                    <a:pt x="80571" y="58977"/>
                  </a:lnTo>
                  <a:lnTo>
                    <a:pt x="80571" y="40775"/>
                  </a:lnTo>
                  <a:close/>
                  <a:moveTo>
                    <a:pt x="196535" y="8155"/>
                  </a:moveTo>
                  <a:cubicBezTo>
                    <a:pt x="198785" y="8155"/>
                    <a:pt x="200612" y="9982"/>
                    <a:pt x="200612" y="12233"/>
                  </a:cubicBezTo>
                  <a:cubicBezTo>
                    <a:pt x="200612" y="14484"/>
                    <a:pt x="198785" y="16310"/>
                    <a:pt x="196535" y="16310"/>
                  </a:cubicBezTo>
                  <a:lnTo>
                    <a:pt x="49745" y="16310"/>
                  </a:lnTo>
                  <a:cubicBezTo>
                    <a:pt x="42993" y="16310"/>
                    <a:pt x="37513" y="21790"/>
                    <a:pt x="37513" y="28543"/>
                  </a:cubicBezTo>
                  <a:lnTo>
                    <a:pt x="37513" y="44853"/>
                  </a:lnTo>
                  <a:cubicBezTo>
                    <a:pt x="37513" y="51605"/>
                    <a:pt x="42993" y="57085"/>
                    <a:pt x="49745" y="57085"/>
                  </a:cubicBezTo>
                  <a:lnTo>
                    <a:pt x="72416" y="57085"/>
                  </a:lnTo>
                  <a:lnTo>
                    <a:pt x="72416" y="65240"/>
                  </a:lnTo>
                  <a:lnTo>
                    <a:pt x="49745" y="65240"/>
                  </a:lnTo>
                  <a:cubicBezTo>
                    <a:pt x="38491" y="65240"/>
                    <a:pt x="29358" y="56107"/>
                    <a:pt x="29358" y="44853"/>
                  </a:cubicBezTo>
                  <a:lnTo>
                    <a:pt x="29358" y="28543"/>
                  </a:lnTo>
                  <a:cubicBezTo>
                    <a:pt x="29358" y="17289"/>
                    <a:pt x="38491" y="8155"/>
                    <a:pt x="49745" y="8155"/>
                  </a:cubicBezTo>
                  <a:close/>
                  <a:moveTo>
                    <a:pt x="196535" y="57085"/>
                  </a:moveTo>
                  <a:cubicBezTo>
                    <a:pt x="198785" y="57085"/>
                    <a:pt x="200612" y="58912"/>
                    <a:pt x="200612" y="61163"/>
                  </a:cubicBezTo>
                  <a:cubicBezTo>
                    <a:pt x="200612" y="63413"/>
                    <a:pt x="198785" y="65240"/>
                    <a:pt x="196535" y="65240"/>
                  </a:cubicBezTo>
                  <a:lnTo>
                    <a:pt x="98936" y="65240"/>
                  </a:lnTo>
                  <a:lnTo>
                    <a:pt x="98936" y="57085"/>
                  </a:lnTo>
                  <a:close/>
                  <a:moveTo>
                    <a:pt x="51213" y="106015"/>
                  </a:moveTo>
                  <a:lnTo>
                    <a:pt x="51213" y="114170"/>
                  </a:lnTo>
                  <a:lnTo>
                    <a:pt x="28542" y="114170"/>
                  </a:lnTo>
                  <a:cubicBezTo>
                    <a:pt x="26324" y="114170"/>
                    <a:pt x="24465" y="112311"/>
                    <a:pt x="24465" y="110092"/>
                  </a:cubicBezTo>
                  <a:lnTo>
                    <a:pt x="24465" y="106015"/>
                  </a:lnTo>
                  <a:close/>
                  <a:moveTo>
                    <a:pt x="171254" y="106015"/>
                  </a:moveTo>
                  <a:lnTo>
                    <a:pt x="171254" y="114170"/>
                  </a:lnTo>
                  <a:lnTo>
                    <a:pt x="77733" y="114170"/>
                  </a:lnTo>
                  <a:lnTo>
                    <a:pt x="77733" y="106015"/>
                  </a:lnTo>
                  <a:close/>
                  <a:moveTo>
                    <a:pt x="69578" y="106015"/>
                  </a:moveTo>
                  <a:lnTo>
                    <a:pt x="69578" y="124217"/>
                  </a:lnTo>
                  <a:lnTo>
                    <a:pt x="66120" y="122684"/>
                  </a:lnTo>
                  <a:cubicBezTo>
                    <a:pt x="65599" y="122439"/>
                    <a:pt x="65036" y="122317"/>
                    <a:pt x="64473" y="122317"/>
                  </a:cubicBezTo>
                  <a:cubicBezTo>
                    <a:pt x="63910" y="122317"/>
                    <a:pt x="63348" y="122439"/>
                    <a:pt x="62826" y="122684"/>
                  </a:cubicBezTo>
                  <a:lnTo>
                    <a:pt x="59368" y="124217"/>
                  </a:lnTo>
                  <a:lnTo>
                    <a:pt x="59368" y="106015"/>
                  </a:lnTo>
                  <a:close/>
                  <a:moveTo>
                    <a:pt x="175332" y="73395"/>
                  </a:moveTo>
                  <a:cubicBezTo>
                    <a:pt x="177583" y="73395"/>
                    <a:pt x="179409" y="75222"/>
                    <a:pt x="179409" y="77473"/>
                  </a:cubicBezTo>
                  <a:cubicBezTo>
                    <a:pt x="179409" y="79723"/>
                    <a:pt x="177583" y="81550"/>
                    <a:pt x="175332" y="81550"/>
                  </a:cubicBezTo>
                  <a:lnTo>
                    <a:pt x="120302" y="81550"/>
                  </a:lnTo>
                  <a:cubicBezTo>
                    <a:pt x="118019" y="81550"/>
                    <a:pt x="116225" y="83377"/>
                    <a:pt x="116225" y="85627"/>
                  </a:cubicBezTo>
                  <a:cubicBezTo>
                    <a:pt x="116225" y="87878"/>
                    <a:pt x="118019" y="89705"/>
                    <a:pt x="120302" y="89705"/>
                  </a:cubicBezTo>
                  <a:lnTo>
                    <a:pt x="171254" y="89705"/>
                  </a:lnTo>
                  <a:lnTo>
                    <a:pt x="171254" y="97860"/>
                  </a:lnTo>
                  <a:lnTo>
                    <a:pt x="24465" y="97860"/>
                  </a:lnTo>
                  <a:lnTo>
                    <a:pt x="24465" y="93782"/>
                  </a:lnTo>
                  <a:cubicBezTo>
                    <a:pt x="24465" y="91564"/>
                    <a:pt x="26324" y="89705"/>
                    <a:pt x="28542" y="89705"/>
                  </a:cubicBezTo>
                  <a:lnTo>
                    <a:pt x="83605" y="89705"/>
                  </a:lnTo>
                  <a:cubicBezTo>
                    <a:pt x="85855" y="89705"/>
                    <a:pt x="87682" y="87878"/>
                    <a:pt x="87682" y="85627"/>
                  </a:cubicBezTo>
                  <a:cubicBezTo>
                    <a:pt x="87682" y="83377"/>
                    <a:pt x="85855" y="81550"/>
                    <a:pt x="83605" y="81550"/>
                  </a:cubicBezTo>
                  <a:lnTo>
                    <a:pt x="28542" y="81550"/>
                  </a:lnTo>
                  <a:cubicBezTo>
                    <a:pt x="21790" y="81550"/>
                    <a:pt x="16310" y="87030"/>
                    <a:pt x="16310" y="93782"/>
                  </a:cubicBezTo>
                  <a:lnTo>
                    <a:pt x="16310" y="110092"/>
                  </a:lnTo>
                  <a:cubicBezTo>
                    <a:pt x="16310" y="116845"/>
                    <a:pt x="21790" y="122325"/>
                    <a:pt x="28542" y="122325"/>
                  </a:cubicBezTo>
                  <a:lnTo>
                    <a:pt x="51213" y="122325"/>
                  </a:lnTo>
                  <a:lnTo>
                    <a:pt x="51213" y="130480"/>
                  </a:lnTo>
                  <a:lnTo>
                    <a:pt x="28542" y="130480"/>
                  </a:lnTo>
                  <a:cubicBezTo>
                    <a:pt x="17289" y="130480"/>
                    <a:pt x="8155" y="121346"/>
                    <a:pt x="8155" y="110092"/>
                  </a:cubicBezTo>
                  <a:lnTo>
                    <a:pt x="8155" y="93782"/>
                  </a:lnTo>
                  <a:cubicBezTo>
                    <a:pt x="8155" y="82529"/>
                    <a:pt x="17289" y="73395"/>
                    <a:pt x="28542" y="73395"/>
                  </a:cubicBezTo>
                  <a:close/>
                  <a:moveTo>
                    <a:pt x="175332" y="122325"/>
                  </a:moveTo>
                  <a:cubicBezTo>
                    <a:pt x="177583" y="122325"/>
                    <a:pt x="179409" y="124152"/>
                    <a:pt x="179409" y="126402"/>
                  </a:cubicBezTo>
                  <a:cubicBezTo>
                    <a:pt x="179409" y="128653"/>
                    <a:pt x="177583" y="130480"/>
                    <a:pt x="175332" y="130480"/>
                  </a:cubicBezTo>
                  <a:lnTo>
                    <a:pt x="77733" y="130480"/>
                  </a:lnTo>
                  <a:lnTo>
                    <a:pt x="77733" y="122325"/>
                  </a:lnTo>
                  <a:close/>
                  <a:moveTo>
                    <a:pt x="49745" y="0"/>
                  </a:moveTo>
                  <a:cubicBezTo>
                    <a:pt x="34023" y="0"/>
                    <a:pt x="21203" y="12820"/>
                    <a:pt x="21203" y="28543"/>
                  </a:cubicBezTo>
                  <a:lnTo>
                    <a:pt x="21203" y="44853"/>
                  </a:lnTo>
                  <a:cubicBezTo>
                    <a:pt x="21203" y="52845"/>
                    <a:pt x="24498" y="60054"/>
                    <a:pt x="29782" y="65240"/>
                  </a:cubicBezTo>
                  <a:lnTo>
                    <a:pt x="28542" y="65240"/>
                  </a:lnTo>
                  <a:cubicBezTo>
                    <a:pt x="12820" y="65240"/>
                    <a:pt x="0" y="78060"/>
                    <a:pt x="0" y="93782"/>
                  </a:cubicBezTo>
                  <a:lnTo>
                    <a:pt x="0" y="110092"/>
                  </a:lnTo>
                  <a:cubicBezTo>
                    <a:pt x="0" y="125815"/>
                    <a:pt x="12820" y="138635"/>
                    <a:pt x="28542" y="138635"/>
                  </a:cubicBezTo>
                  <a:lnTo>
                    <a:pt x="175332" y="138635"/>
                  </a:lnTo>
                  <a:cubicBezTo>
                    <a:pt x="182084" y="138635"/>
                    <a:pt x="187564" y="133155"/>
                    <a:pt x="187564" y="126402"/>
                  </a:cubicBezTo>
                  <a:cubicBezTo>
                    <a:pt x="187564" y="121085"/>
                    <a:pt x="184139" y="116551"/>
                    <a:pt x="179409" y="114855"/>
                  </a:cubicBezTo>
                  <a:lnTo>
                    <a:pt x="179409" y="89020"/>
                  </a:lnTo>
                  <a:cubicBezTo>
                    <a:pt x="184139" y="87324"/>
                    <a:pt x="187564" y="82790"/>
                    <a:pt x="187564" y="77473"/>
                  </a:cubicBezTo>
                  <a:cubicBezTo>
                    <a:pt x="187564" y="76037"/>
                    <a:pt x="187303" y="74667"/>
                    <a:pt x="186847" y="73395"/>
                  </a:cubicBezTo>
                  <a:lnTo>
                    <a:pt x="196535" y="73395"/>
                  </a:lnTo>
                  <a:cubicBezTo>
                    <a:pt x="203287" y="73395"/>
                    <a:pt x="208767" y="67915"/>
                    <a:pt x="208767" y="61163"/>
                  </a:cubicBezTo>
                  <a:cubicBezTo>
                    <a:pt x="208767" y="55846"/>
                    <a:pt x="205342" y="51311"/>
                    <a:pt x="200612" y="49615"/>
                  </a:cubicBezTo>
                  <a:lnTo>
                    <a:pt x="200612" y="23780"/>
                  </a:lnTo>
                  <a:cubicBezTo>
                    <a:pt x="205342" y="22084"/>
                    <a:pt x="208767" y="17550"/>
                    <a:pt x="208767" y="12233"/>
                  </a:cubicBezTo>
                  <a:cubicBezTo>
                    <a:pt x="208767" y="5480"/>
                    <a:pt x="203287" y="0"/>
                    <a:pt x="196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" name="Google Shape;657;p52"/>
            <p:cNvSpPr/>
            <p:nvPr/>
          </p:nvSpPr>
          <p:spPr>
            <a:xfrm>
              <a:off x="3637100" y="3153525"/>
              <a:ext cx="203900" cy="203875"/>
            </a:xfrm>
            <a:custGeom>
              <a:avLst/>
              <a:gdLst/>
              <a:ahLst/>
              <a:cxnLst/>
              <a:rect l="l" t="t" r="r" b="b"/>
              <a:pathLst>
                <a:path w="8156" h="8155" extrusionOk="0">
                  <a:moveTo>
                    <a:pt x="4078" y="0"/>
                  </a:moveTo>
                  <a:cubicBezTo>
                    <a:pt x="1827" y="0"/>
                    <a:pt x="1" y="1827"/>
                    <a:pt x="1" y="4077"/>
                  </a:cubicBezTo>
                  <a:cubicBezTo>
                    <a:pt x="1" y="6328"/>
                    <a:pt x="1827" y="8155"/>
                    <a:pt x="4078" y="8155"/>
                  </a:cubicBezTo>
                  <a:cubicBezTo>
                    <a:pt x="6329" y="8155"/>
                    <a:pt x="8156" y="6328"/>
                    <a:pt x="8156" y="4077"/>
                  </a:cubicBezTo>
                  <a:cubicBezTo>
                    <a:pt x="8156" y="1827"/>
                    <a:pt x="6329" y="0"/>
                    <a:pt x="40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9396;p65"/>
          <p:cNvGrpSpPr/>
          <p:nvPr/>
        </p:nvGrpSpPr>
        <p:grpSpPr>
          <a:xfrm>
            <a:off x="10501112" y="1656954"/>
            <a:ext cx="493073" cy="471709"/>
            <a:chOff x="3950316" y="3820307"/>
            <a:chExt cx="369805" cy="353782"/>
          </a:xfrm>
          <a:solidFill>
            <a:srgbClr val="000000"/>
          </a:solidFill>
        </p:grpSpPr>
        <p:sp>
          <p:nvSpPr>
            <p:cNvPr id="155" name="Google Shape;9397;p65"/>
            <p:cNvSpPr/>
            <p:nvPr/>
          </p:nvSpPr>
          <p:spPr>
            <a:xfrm>
              <a:off x="4040561" y="3880991"/>
              <a:ext cx="99802" cy="28383"/>
            </a:xfrm>
            <a:custGeom>
              <a:avLst/>
              <a:gdLst/>
              <a:ahLst/>
              <a:cxnLst/>
              <a:rect l="l" t="t" r="r" b="b"/>
              <a:pathLst>
                <a:path w="3133" h="891" extrusionOk="0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" name="Google Shape;9398;p65"/>
            <p:cNvSpPr/>
            <p:nvPr/>
          </p:nvSpPr>
          <p:spPr>
            <a:xfrm>
              <a:off x="3950316" y="3820307"/>
              <a:ext cx="369805" cy="353782"/>
            </a:xfrm>
            <a:custGeom>
              <a:avLst/>
              <a:gdLst/>
              <a:ahLst/>
              <a:cxnLst/>
              <a:rect l="l" t="t" r="r" b="b"/>
              <a:pathLst>
                <a:path w="11609" h="11106" extrusionOk="0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" name="Google Shape;9399;p65"/>
            <p:cNvSpPr/>
            <p:nvPr/>
          </p:nvSpPr>
          <p:spPr>
            <a:xfrm>
              <a:off x="4098219" y="3850602"/>
              <a:ext cx="101299" cy="195781"/>
            </a:xfrm>
            <a:custGeom>
              <a:avLst/>
              <a:gdLst/>
              <a:ahLst/>
              <a:cxnLst/>
              <a:rect l="l" t="t" r="r" b="b"/>
              <a:pathLst>
                <a:path w="3180" h="6146" extrusionOk="0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" name="Google Shape;9400;p65"/>
            <p:cNvSpPr/>
            <p:nvPr/>
          </p:nvSpPr>
          <p:spPr>
            <a:xfrm>
              <a:off x="3981789" y="3849136"/>
              <a:ext cx="103178" cy="198011"/>
            </a:xfrm>
            <a:custGeom>
              <a:avLst/>
              <a:gdLst/>
              <a:ahLst/>
              <a:cxnLst/>
              <a:rect l="l" t="t" r="r" b="b"/>
              <a:pathLst>
                <a:path w="3239" h="6216" extrusionOk="0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8797;p63"/>
          <p:cNvGrpSpPr/>
          <p:nvPr/>
        </p:nvGrpSpPr>
        <p:grpSpPr>
          <a:xfrm>
            <a:off x="9986883" y="2437508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167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8797;p63"/>
          <p:cNvGrpSpPr/>
          <p:nvPr/>
        </p:nvGrpSpPr>
        <p:grpSpPr>
          <a:xfrm>
            <a:off x="10318102" y="2443660"/>
            <a:ext cx="197108" cy="389321"/>
            <a:chOff x="3527539" y="4476677"/>
            <a:chExt cx="159232" cy="314510"/>
          </a:xfrm>
          <a:solidFill>
            <a:schemeClr val="accent5"/>
          </a:solidFill>
        </p:grpSpPr>
        <p:sp>
          <p:nvSpPr>
            <p:cNvPr id="176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8797;p63"/>
          <p:cNvGrpSpPr/>
          <p:nvPr/>
        </p:nvGrpSpPr>
        <p:grpSpPr>
          <a:xfrm>
            <a:off x="10636273" y="2442672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179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8797;p63"/>
          <p:cNvGrpSpPr/>
          <p:nvPr/>
        </p:nvGrpSpPr>
        <p:grpSpPr>
          <a:xfrm>
            <a:off x="9671243" y="2446106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182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65" name="Grafik 6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10352069" y="149211"/>
            <a:ext cx="769707" cy="667716"/>
          </a:xfrm>
          <a:prstGeom prst="rect">
            <a:avLst/>
          </a:prstGeom>
        </p:spPr>
      </p:pic>
      <p:pic>
        <p:nvPicPr>
          <p:cNvPr id="64" name="Grafik 63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11971" y="3071200"/>
            <a:ext cx="749459" cy="640648"/>
          </a:xfrm>
          <a:prstGeom prst="rect">
            <a:avLst/>
          </a:prstGeom>
        </p:spPr>
      </p:pic>
      <p:pic>
        <p:nvPicPr>
          <p:cNvPr id="66" name="Grafik 65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00"/>
          <a:stretch/>
        </p:blipFill>
        <p:spPr>
          <a:xfrm>
            <a:off x="10102565" y="5350361"/>
            <a:ext cx="797091" cy="683104"/>
          </a:xfrm>
          <a:prstGeom prst="rect">
            <a:avLst/>
          </a:prstGeom>
        </p:spPr>
      </p:pic>
      <p:cxnSp>
        <p:nvCxnSpPr>
          <p:cNvPr id="63" name="Google Shape;469;p42"/>
          <p:cNvCxnSpPr/>
          <p:nvPr/>
        </p:nvCxnSpPr>
        <p:spPr>
          <a:xfrm flipV="1">
            <a:off x="4960770" y="3044221"/>
            <a:ext cx="5675503" cy="678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469;p42"/>
          <p:cNvCxnSpPr/>
          <p:nvPr/>
        </p:nvCxnSpPr>
        <p:spPr>
          <a:xfrm flipV="1">
            <a:off x="4960769" y="3788697"/>
            <a:ext cx="5675503" cy="678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469;p42"/>
          <p:cNvCxnSpPr/>
          <p:nvPr/>
        </p:nvCxnSpPr>
        <p:spPr>
          <a:xfrm flipV="1">
            <a:off x="4984955" y="4491921"/>
            <a:ext cx="5675503" cy="678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469;p42"/>
          <p:cNvCxnSpPr/>
          <p:nvPr/>
        </p:nvCxnSpPr>
        <p:spPr>
          <a:xfrm flipV="1">
            <a:off x="4960769" y="5290006"/>
            <a:ext cx="5675503" cy="678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0" name="Grafik 69"/>
          <p:cNvPicPr>
            <a:picLocks noChangeAspect="1"/>
          </p:cNvPicPr>
          <p:nvPr/>
        </p:nvPicPr>
        <p:blipFill rotWithShape="1">
          <a:blip r:embed="rId3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3670419" y="5702042"/>
            <a:ext cx="769707" cy="667716"/>
          </a:xfrm>
          <a:prstGeom prst="rect">
            <a:avLst/>
          </a:prstGeom>
          <a:ln>
            <a:noFill/>
          </a:ln>
        </p:spPr>
      </p:pic>
      <p:pic>
        <p:nvPicPr>
          <p:cNvPr id="71" name="Grafik 70"/>
          <p:cNvPicPr>
            <a:picLocks noChangeAspect="1"/>
          </p:cNvPicPr>
          <p:nvPr/>
        </p:nvPicPr>
        <p:blipFill rotWithShape="1">
          <a:blip r:embed="rId3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3688013" y="1460947"/>
            <a:ext cx="769707" cy="667716"/>
          </a:xfrm>
          <a:prstGeom prst="rect">
            <a:avLst/>
          </a:prstGeom>
          <a:ln>
            <a:noFill/>
          </a:ln>
        </p:spPr>
      </p:pic>
      <p:pic>
        <p:nvPicPr>
          <p:cNvPr id="72" name="Grafik 71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5210" y="4615534"/>
            <a:ext cx="644532" cy="55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7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42010" y="149211"/>
            <a:ext cx="6379117" cy="698500"/>
          </a:xfrm>
          <a:noFill/>
        </p:spPr>
        <p:txBody>
          <a:bodyPr/>
          <a:lstStyle/>
          <a:p>
            <a:r>
              <a:rPr lang="fr-FR" noProof="0" dirty="0"/>
              <a:t>EXERCISE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10352069" y="149211"/>
            <a:ext cx="769707" cy="667716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10830920" y="3066065"/>
            <a:ext cx="769707" cy="667716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83443" y="4224581"/>
            <a:ext cx="1092909" cy="90311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6BA7DCF-EBFB-5E29-E322-C18B697FF086}"/>
              </a:ext>
            </a:extLst>
          </p:cNvPr>
          <p:cNvGrpSpPr/>
          <p:nvPr/>
        </p:nvGrpSpPr>
        <p:grpSpPr>
          <a:xfrm>
            <a:off x="1342009" y="666750"/>
            <a:ext cx="9574200" cy="5078313"/>
            <a:chOff x="800100" y="715411"/>
            <a:chExt cx="7180650" cy="3808735"/>
          </a:xfrm>
        </p:grpSpPr>
        <p:sp>
          <p:nvSpPr>
            <p:cNvPr id="144388" name="Text Box 4"/>
            <p:cNvSpPr txBox="1">
              <a:spLocks noChangeArrowheads="1"/>
            </p:cNvSpPr>
            <p:nvPr/>
          </p:nvSpPr>
          <p:spPr bwMode="auto">
            <a:xfrm>
              <a:off x="800100" y="715411"/>
              <a:ext cx="7180650" cy="38087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:p14="http://schemas.microsoft.com/office/powerpoint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:p14="http://schemas.microsoft.com/office/powerpoint/2010/main" xmlns="" w="127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:p14="http://schemas.microsoft.com/office/powerpoint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1219170">
                <a:spcBef>
                  <a:spcPct val="50000"/>
                </a:spcBef>
                <a:buClr>
                  <a:srgbClr val="000000"/>
                </a:buClr>
              </a:pPr>
              <a:r>
                <a:rPr lang="en-US" sz="1800" b="1" kern="0" dirty="0">
                  <a:solidFill>
                    <a:srgbClr val="EDEDED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Instruction: </a:t>
              </a:r>
            </a:p>
            <a:p>
              <a:pPr algn="just" defTabSz="1219170">
                <a:spcBef>
                  <a:spcPct val="50000"/>
                </a:spcBef>
                <a:buClr>
                  <a:srgbClr val="000000"/>
                </a:buClr>
              </a:pPr>
              <a:r>
                <a:rPr lang="fr-FR" sz="1800" kern="0" dirty="0">
                  <a:solidFill>
                    <a:srgbClr val="47362D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This exercise presents two case studies of women entrepreneurs in Kenya</a:t>
              </a:r>
            </a:p>
            <a:p>
              <a:pPr algn="just" defTabSz="1219170">
                <a:spcBef>
                  <a:spcPct val="50000"/>
                </a:spcBef>
                <a:buClr>
                  <a:srgbClr val="000000"/>
                </a:buClr>
              </a:pPr>
              <a:r>
                <a:rPr lang="fr-FR" sz="1800" kern="0" dirty="0">
                  <a:solidFill>
                    <a:srgbClr val="47362D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The first female entrepreneur shows </a:t>
              </a:r>
              <a:r>
                <a:rPr lang="fr-FR" sz="1800" b="1" kern="0" dirty="0" err="1">
                  <a:solidFill>
                    <a:srgbClr val="47362D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Get</a:t>
              </a:r>
              <a:r>
                <a:rPr lang="fr-FR" sz="1800" b="1" kern="0" dirty="0">
                  <a:solidFill>
                    <a:srgbClr val="47362D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 Up &amp; Go! </a:t>
              </a:r>
              <a:r>
                <a:rPr lang="fr-FR" sz="1800" kern="0" dirty="0">
                  <a:solidFill>
                    <a:srgbClr val="47362D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behaviour while the second female entrepreneur shows </a:t>
              </a:r>
              <a:r>
                <a:rPr lang="fr-FR" sz="1800" b="1" i="1" kern="0" dirty="0">
                  <a:solidFill>
                    <a:srgbClr val="47362D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Laid Back </a:t>
              </a:r>
              <a:r>
                <a:rPr lang="fr-FR" sz="1800" kern="0" dirty="0">
                  <a:solidFill>
                    <a:srgbClr val="47362D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behaviour.</a:t>
              </a:r>
            </a:p>
            <a:p>
              <a:pPr defTabSz="1219170">
                <a:buClr>
                  <a:srgbClr val="000000"/>
                </a:buClr>
              </a:pPr>
              <a:endParaRPr lang="en-US" sz="1800" kern="0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endParaRPr>
            </a:p>
            <a:p>
              <a:pPr defTabSz="1219170">
                <a:spcBef>
                  <a:spcPct val="50000"/>
                </a:spcBef>
                <a:buClr>
                  <a:srgbClr val="000000"/>
                </a:buClr>
              </a:pPr>
              <a:r>
                <a:rPr lang="fr-SN" sz="1800" kern="0" dirty="0">
                  <a:solidFill>
                    <a:srgbClr val="47362D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Form groups of </a:t>
              </a:r>
              <a:r>
                <a:rPr lang="fr-SN" sz="1800" b="1" kern="0" dirty="0">
                  <a:solidFill>
                    <a:srgbClr val="769452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Four (04) people </a:t>
              </a:r>
              <a:r>
                <a:rPr lang="fr-SN" sz="1800" kern="0" dirty="0">
                  <a:solidFill>
                    <a:srgbClr val="47362D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to work on this exercise.</a:t>
              </a:r>
            </a:p>
            <a:p>
              <a:pPr defTabSz="1219170">
                <a:spcBef>
                  <a:spcPct val="50000"/>
                </a:spcBef>
                <a:buClr>
                  <a:srgbClr val="000000"/>
                </a:buClr>
              </a:pPr>
              <a:endParaRPr lang="en-US" sz="18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endParaRPr>
            </a:p>
            <a:p>
              <a:pPr defTabSz="1219170">
                <a:spcBef>
                  <a:spcPct val="50000"/>
                </a:spcBef>
                <a:buClr>
                  <a:srgbClr val="000000"/>
                </a:buClr>
              </a:pPr>
              <a:r>
                <a:rPr lang="fr-SN" sz="1800" b="1" kern="0" dirty="0">
                  <a:solidFill>
                    <a:srgbClr val="769452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Groups A:</a:t>
              </a:r>
            </a:p>
            <a:p>
              <a:pPr marL="285744" indent="-285744" defTabSz="1219170">
                <a:buClr>
                  <a:srgbClr val="000000"/>
                </a:buClr>
                <a:buFont typeface="Wingdings" panose="05000000000000000000" pitchFamily="2" charset="2"/>
                <a:buChar char="§"/>
              </a:pPr>
              <a:r>
                <a:rPr lang="fr-SN" sz="1800" kern="0" dirty="0">
                  <a:solidFill>
                    <a:srgbClr val="434343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Look at </a:t>
              </a:r>
              <a:r>
                <a:rPr lang="fr-SN" sz="1800" b="1" i="1" kern="0" dirty="0">
                  <a:solidFill>
                    <a:srgbClr val="769452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case 1 « </a:t>
              </a:r>
              <a:r>
                <a:rPr lang="fr-SN" sz="1800" b="1" i="1" kern="0" dirty="0" err="1">
                  <a:solidFill>
                    <a:srgbClr val="769452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Get</a:t>
              </a:r>
              <a:r>
                <a:rPr lang="fr-SN" sz="1800" b="1" i="1" kern="0" dirty="0">
                  <a:solidFill>
                    <a:srgbClr val="769452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 Up &amp; Go female entrepreneur".</a:t>
              </a:r>
            </a:p>
            <a:p>
              <a:pPr marL="285744" indent="-285744" defTabSz="1219170">
                <a:buClr>
                  <a:srgbClr val="000000"/>
                </a:buClr>
                <a:buFont typeface="Wingdings" panose="05000000000000000000" pitchFamily="2" charset="2"/>
                <a:buChar char="§"/>
              </a:pPr>
              <a:r>
                <a:rPr lang="fr-SN" sz="1800" kern="0" dirty="0">
                  <a:solidFill>
                    <a:srgbClr val="434343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Identify and record what is proactive in their behaviour and the consequences of this.</a:t>
              </a:r>
              <a:endParaRPr lang="en-US" sz="1800" i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endParaRPr>
            </a:p>
            <a:p>
              <a:pPr defTabSz="1219170">
                <a:spcBef>
                  <a:spcPct val="50000"/>
                </a:spcBef>
                <a:buClr>
                  <a:srgbClr val="000000"/>
                </a:buClr>
              </a:pPr>
              <a:r>
                <a:rPr lang="fr-FR" sz="1800" b="1" kern="0" dirty="0">
                  <a:solidFill>
                    <a:srgbClr val="769452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Groups </a:t>
              </a:r>
              <a:r>
                <a:rPr lang="en-US" sz="1800" b="1" kern="0" dirty="0">
                  <a:solidFill>
                    <a:srgbClr val="769452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B : </a:t>
              </a:r>
            </a:p>
            <a:p>
              <a:pPr marL="285744" indent="-285744" defTabSz="1219170">
                <a:buClr>
                  <a:srgbClr val="000000"/>
                </a:buClr>
                <a:buFont typeface="Wingdings" panose="05000000000000000000" pitchFamily="2" charset="2"/>
                <a:buChar char="§"/>
              </a:pPr>
              <a:r>
                <a:rPr lang="fr-SN" sz="1800" kern="0" dirty="0">
                  <a:solidFill>
                    <a:srgbClr val="434343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Then look at </a:t>
              </a:r>
              <a:r>
                <a:rPr lang="fr-SN" sz="1800" b="1" i="1" kern="0" dirty="0">
                  <a:solidFill>
                    <a:srgbClr val="769452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case 2 « Laid Back female entrepreneur".</a:t>
              </a:r>
            </a:p>
            <a:p>
              <a:pPr marL="285744" indent="-285744" defTabSz="1219170">
                <a:buClr>
                  <a:srgbClr val="000000"/>
                </a:buClr>
                <a:buFont typeface="Wingdings" panose="05000000000000000000" pitchFamily="2" charset="2"/>
                <a:buChar char="§"/>
              </a:pPr>
              <a:r>
                <a:rPr lang="fr-SN" sz="1800" kern="0" dirty="0">
                  <a:solidFill>
                    <a:srgbClr val="434343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Identify and note what is reactive in their behaviour and the consequences of this.</a:t>
              </a:r>
            </a:p>
          </p:txBody>
        </p:sp>
        <p:grpSp>
          <p:nvGrpSpPr>
            <p:cNvPr id="15" name="Gruppieren 14"/>
            <p:cNvGrpSpPr/>
            <p:nvPr/>
          </p:nvGrpSpPr>
          <p:grpSpPr>
            <a:xfrm>
              <a:off x="7071184" y="2601719"/>
              <a:ext cx="383286" cy="373252"/>
              <a:chOff x="274348" y="243815"/>
              <a:chExt cx="383286" cy="373252"/>
            </a:xfrm>
          </p:grpSpPr>
          <p:sp>
            <p:nvSpPr>
              <p:cNvPr id="19" name="Rechteck 18"/>
              <p:cNvSpPr/>
              <p:nvPr userDrawn="1"/>
            </p:nvSpPr>
            <p:spPr>
              <a:xfrm>
                <a:off x="274348" y="243815"/>
                <a:ext cx="327363" cy="373252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dirty="0">
                  <a:solidFill>
                    <a:srgbClr val="EDEDED"/>
                  </a:solidFill>
                  <a:latin typeface="Arial"/>
                  <a:sym typeface="Arial"/>
                </a:endParaRPr>
              </a:p>
            </p:txBody>
          </p:sp>
          <p:sp>
            <p:nvSpPr>
              <p:cNvPr id="17" name="Rechteck 16"/>
              <p:cNvSpPr/>
              <p:nvPr/>
            </p:nvSpPr>
            <p:spPr>
              <a:xfrm>
                <a:off x="350038" y="269215"/>
                <a:ext cx="307596" cy="45719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dirty="0">
                  <a:solidFill>
                    <a:srgbClr val="EDEDED"/>
                  </a:solidFill>
                  <a:latin typeface="Arial"/>
                  <a:sym typeface="Arial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2006D9D-2CA2-310C-6DA8-68C26BF677BF}"/>
              </a:ext>
            </a:extLst>
          </p:cNvPr>
          <p:cNvGrpSpPr/>
          <p:nvPr/>
        </p:nvGrpSpPr>
        <p:grpSpPr>
          <a:xfrm>
            <a:off x="9854148" y="4249262"/>
            <a:ext cx="995843" cy="802009"/>
            <a:chOff x="7230633" y="4353081"/>
            <a:chExt cx="746882" cy="601507"/>
          </a:xfrm>
        </p:grpSpPr>
        <p:grpSp>
          <p:nvGrpSpPr>
            <p:cNvPr id="7" name="Gruppieren 6"/>
            <p:cNvGrpSpPr/>
            <p:nvPr/>
          </p:nvGrpSpPr>
          <p:grpSpPr>
            <a:xfrm>
              <a:off x="7230633" y="4353081"/>
              <a:ext cx="729095" cy="601507"/>
              <a:chOff x="97587" y="121915"/>
              <a:chExt cx="729095" cy="601507"/>
            </a:xfrm>
          </p:grpSpPr>
          <p:grpSp>
            <p:nvGrpSpPr>
              <p:cNvPr id="8" name="Gruppieren 7"/>
              <p:cNvGrpSpPr/>
              <p:nvPr/>
            </p:nvGrpSpPr>
            <p:grpSpPr>
              <a:xfrm>
                <a:off x="97587" y="121915"/>
                <a:ext cx="729095" cy="601507"/>
                <a:chOff x="2016744" y="-182666"/>
                <a:chExt cx="5143500" cy="4481945"/>
              </a:xfrm>
            </p:grpSpPr>
            <p:pic>
              <p:nvPicPr>
                <p:cNvPr id="12" name="Grafik 11"/>
                <p:cNvPicPr>
                  <a:picLocks noChangeAspect="1"/>
                </p:cNvPicPr>
                <p:nvPr userDrawn="1"/>
              </p:nvPicPr>
              <p:blipFill rotWithShape="1">
                <a:blip r:embed="rId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2016744" y="-182666"/>
                  <a:ext cx="5143500" cy="4481945"/>
                </a:xfrm>
                <a:prstGeom prst="rect">
                  <a:avLst/>
                </a:prstGeom>
              </p:spPr>
            </p:pic>
            <p:sp>
              <p:nvSpPr>
                <p:cNvPr id="13" name="Rechteck 12"/>
                <p:cNvSpPr/>
                <p:nvPr userDrawn="1"/>
              </p:nvSpPr>
              <p:spPr>
                <a:xfrm>
                  <a:off x="3263729" y="914895"/>
                  <a:ext cx="2309427" cy="2781173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9170">
                    <a:buClr>
                      <a:srgbClr val="000000"/>
                    </a:buClr>
                  </a:pPr>
                  <a:endParaRPr lang="en-GB" sz="1867" kern="0" dirty="0">
                    <a:solidFill>
                      <a:srgbClr val="EDEDED"/>
                    </a:solidFill>
                    <a:latin typeface="Arial"/>
                    <a:sym typeface="Arial"/>
                  </a:endParaRPr>
                </a:p>
              </p:txBody>
            </p:sp>
          </p:grpSp>
          <p:sp>
            <p:nvSpPr>
              <p:cNvPr id="10" name="Rechteck 9"/>
              <p:cNvSpPr/>
              <p:nvPr/>
            </p:nvSpPr>
            <p:spPr>
              <a:xfrm>
                <a:off x="350038" y="269215"/>
                <a:ext cx="307596" cy="45719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dirty="0">
                  <a:solidFill>
                    <a:srgbClr val="EDEDED"/>
                  </a:solidFill>
                  <a:latin typeface="Arial"/>
                  <a:sym typeface="Arial"/>
                </a:endParaRPr>
              </a:p>
            </p:txBody>
          </p:sp>
        </p:grpSp>
        <p:sp>
          <p:nvSpPr>
            <p:cNvPr id="46" name="Textfeld 4">
              <a:extLst>
                <a:ext uri="{FF2B5EF4-FFF2-40B4-BE49-F238E27FC236}">
                  <a16:creationId xmlns:a16="http://schemas.microsoft.com/office/drawing/2014/main" id="{615827BE-5503-B66F-8437-7A0939EA37F8}"/>
                </a:ext>
              </a:extLst>
            </p:cNvPr>
            <p:cNvSpPr txBox="1"/>
            <p:nvPr/>
          </p:nvSpPr>
          <p:spPr>
            <a:xfrm>
              <a:off x="7289175" y="4443131"/>
              <a:ext cx="688340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buClr>
                  <a:srgbClr val="000000"/>
                </a:buClr>
              </a:pPr>
              <a:r>
                <a:rPr lang="de-DE" sz="1867" kern="0" dirty="0">
                  <a:solidFill>
                    <a:srgbClr val="000000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WS 2</a:t>
              </a:r>
              <a:endParaRPr lang="en-GB" sz="1867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4E4BF9E-6AD7-8DA3-D307-8E7FD7DCF198}"/>
              </a:ext>
            </a:extLst>
          </p:cNvPr>
          <p:cNvGrpSpPr/>
          <p:nvPr/>
        </p:nvGrpSpPr>
        <p:grpSpPr>
          <a:xfrm>
            <a:off x="9802056" y="2976941"/>
            <a:ext cx="995843" cy="802009"/>
            <a:chOff x="7230633" y="4353081"/>
            <a:chExt cx="746882" cy="601507"/>
          </a:xfrm>
        </p:grpSpPr>
        <p:grpSp>
          <p:nvGrpSpPr>
            <p:cNvPr id="23" name="Gruppieren 6">
              <a:extLst>
                <a:ext uri="{FF2B5EF4-FFF2-40B4-BE49-F238E27FC236}">
                  <a16:creationId xmlns:a16="http://schemas.microsoft.com/office/drawing/2014/main" id="{7F59C2F4-1E3F-5CCA-974A-D120F5133868}"/>
                </a:ext>
              </a:extLst>
            </p:cNvPr>
            <p:cNvGrpSpPr/>
            <p:nvPr/>
          </p:nvGrpSpPr>
          <p:grpSpPr>
            <a:xfrm>
              <a:off x="7230633" y="4353081"/>
              <a:ext cx="729095" cy="601507"/>
              <a:chOff x="97587" y="121915"/>
              <a:chExt cx="729095" cy="601507"/>
            </a:xfrm>
          </p:grpSpPr>
          <p:grpSp>
            <p:nvGrpSpPr>
              <p:cNvPr id="26" name="Gruppieren 7">
                <a:extLst>
                  <a:ext uri="{FF2B5EF4-FFF2-40B4-BE49-F238E27FC236}">
                    <a16:creationId xmlns:a16="http://schemas.microsoft.com/office/drawing/2014/main" id="{BF69DE6C-14A8-3A20-565F-8762260546AB}"/>
                  </a:ext>
                </a:extLst>
              </p:cNvPr>
              <p:cNvGrpSpPr/>
              <p:nvPr/>
            </p:nvGrpSpPr>
            <p:grpSpPr>
              <a:xfrm>
                <a:off x="97587" y="121915"/>
                <a:ext cx="729095" cy="601507"/>
                <a:chOff x="2016744" y="-182666"/>
                <a:chExt cx="5143500" cy="4481945"/>
              </a:xfrm>
            </p:grpSpPr>
            <p:pic>
              <p:nvPicPr>
                <p:cNvPr id="28" name="Grafik 11">
                  <a:extLst>
                    <a:ext uri="{FF2B5EF4-FFF2-40B4-BE49-F238E27FC236}">
                      <a16:creationId xmlns:a16="http://schemas.microsoft.com/office/drawing/2014/main" id="{2DD4DC9C-02E1-0BCB-FCAA-92CF5E1302C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 r:embed="rId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2016744" y="-182666"/>
                  <a:ext cx="5143500" cy="4481945"/>
                </a:xfrm>
                <a:prstGeom prst="rect">
                  <a:avLst/>
                </a:prstGeom>
              </p:spPr>
            </p:pic>
            <p:sp>
              <p:nvSpPr>
                <p:cNvPr id="29" name="Rechteck 12">
                  <a:extLst>
                    <a:ext uri="{FF2B5EF4-FFF2-40B4-BE49-F238E27FC236}">
                      <a16:creationId xmlns:a16="http://schemas.microsoft.com/office/drawing/2014/main" id="{3767B24E-A839-404F-B3A4-A93435D553FE}"/>
                    </a:ext>
                  </a:extLst>
                </p:cNvPr>
                <p:cNvSpPr/>
                <p:nvPr userDrawn="1"/>
              </p:nvSpPr>
              <p:spPr>
                <a:xfrm>
                  <a:off x="3263729" y="914895"/>
                  <a:ext cx="2309427" cy="2781173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9170">
                    <a:buClr>
                      <a:srgbClr val="000000"/>
                    </a:buClr>
                  </a:pPr>
                  <a:endParaRPr lang="en-GB" sz="1867" kern="0" dirty="0">
                    <a:solidFill>
                      <a:srgbClr val="EDEDED"/>
                    </a:solidFill>
                    <a:latin typeface="Arial"/>
                    <a:sym typeface="Arial"/>
                  </a:endParaRPr>
                </a:p>
              </p:txBody>
            </p:sp>
          </p:grpSp>
          <p:sp>
            <p:nvSpPr>
              <p:cNvPr id="27" name="Rechteck 9">
                <a:extLst>
                  <a:ext uri="{FF2B5EF4-FFF2-40B4-BE49-F238E27FC236}">
                    <a16:creationId xmlns:a16="http://schemas.microsoft.com/office/drawing/2014/main" id="{109F4A4D-75A8-7A4B-B001-607995B11074}"/>
                  </a:ext>
                </a:extLst>
              </p:cNvPr>
              <p:cNvSpPr/>
              <p:nvPr/>
            </p:nvSpPr>
            <p:spPr>
              <a:xfrm>
                <a:off x="350038" y="269215"/>
                <a:ext cx="307596" cy="45719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dirty="0">
                  <a:solidFill>
                    <a:srgbClr val="EDEDED"/>
                  </a:solidFill>
                  <a:latin typeface="Arial"/>
                  <a:sym typeface="Arial"/>
                </a:endParaRPr>
              </a:p>
            </p:txBody>
          </p:sp>
        </p:grpSp>
        <p:sp>
          <p:nvSpPr>
            <p:cNvPr id="25" name="Textfeld 4">
              <a:extLst>
                <a:ext uri="{FF2B5EF4-FFF2-40B4-BE49-F238E27FC236}">
                  <a16:creationId xmlns:a16="http://schemas.microsoft.com/office/drawing/2014/main" id="{A1AD4FED-1B7D-F465-495F-ED2B670E44D9}"/>
                </a:ext>
              </a:extLst>
            </p:cNvPr>
            <p:cNvSpPr txBox="1"/>
            <p:nvPr/>
          </p:nvSpPr>
          <p:spPr>
            <a:xfrm>
              <a:off x="7289175" y="4443131"/>
              <a:ext cx="688340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buClr>
                  <a:srgbClr val="000000"/>
                </a:buClr>
              </a:pPr>
              <a:r>
                <a:rPr lang="de-DE" sz="1867" kern="0" dirty="0">
                  <a:solidFill>
                    <a:srgbClr val="000000"/>
                  </a:solidFill>
                  <a:latin typeface="Poppins" panose="020B0604020202020204" charset="0"/>
                  <a:cs typeface="Poppins" panose="020B0604020202020204" charset="0"/>
                  <a:sym typeface="Arial"/>
                </a:rPr>
                <a:t>WS 1</a:t>
              </a:r>
              <a:endParaRPr lang="en-GB" sz="1867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377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07300" y="162"/>
            <a:ext cx="4584701" cy="6857839"/>
          </a:xfrm>
          <a:prstGeom prst="rect">
            <a:avLst/>
          </a:prstGeom>
        </p:spPr>
      </p:pic>
      <p:sp>
        <p:nvSpPr>
          <p:cNvPr id="230" name="Google Shape;230;p33"/>
          <p:cNvSpPr txBox="1">
            <a:spLocks noGrp="1"/>
          </p:cNvSpPr>
          <p:nvPr>
            <p:ph type="body" idx="4294967295"/>
          </p:nvPr>
        </p:nvSpPr>
        <p:spPr>
          <a:xfrm>
            <a:off x="0" y="1369484"/>
            <a:ext cx="7397392" cy="36888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48343" indent="0">
              <a:buNone/>
            </a:pPr>
            <a:r>
              <a:rPr lang="en-US" sz="1467" dirty="0"/>
              <a:t>Hello, I am Annie. I produce and sell herbs from my region.  Before that, I worked in a food laboratory for four years.  To learn how to run a business, I regularly watch videos on the internet about accounting and management.  My business has grown steadily over the past few years.  I recently set myself the goal of doubling my turnover within a year.  To get higher prices for my products, I tried to contact a supermarket in Nairobi.  As no one responded to me, I asked a friend, who works for the supermarket, to take a sample of my products to his manager.  In this way, I was able to attract the attention of the management and began collaborating with the supermarket.</a:t>
            </a:r>
          </a:p>
          <a:p>
            <a:pPr marL="248343" indent="0">
              <a:buNone/>
            </a:pPr>
            <a:endParaRPr lang="en-US" sz="1467" dirty="0"/>
          </a:p>
          <a:p>
            <a:pPr marL="248343" indent="0">
              <a:buNone/>
            </a:pPr>
            <a:r>
              <a:rPr lang="en-US" sz="1467" dirty="0"/>
              <a:t>To deliver my products to the supermarket, I work with a local farmer, who often travels to Nairobi. I’m also working to ensure my products are certified 'organic’, because I believe organic products will be in greater demand in the coming years and I will be able to get a better price for them.  </a:t>
            </a:r>
          </a:p>
          <a:p>
            <a:pPr marL="248343" indent="0">
              <a:buNone/>
            </a:pPr>
            <a:endParaRPr lang="en-US" sz="1467" dirty="0"/>
          </a:p>
        </p:txBody>
      </p:sp>
      <p:sp>
        <p:nvSpPr>
          <p:cNvPr id="231" name="Google Shape;231;p33"/>
          <p:cNvSpPr txBox="1">
            <a:spLocks noGrp="1"/>
          </p:cNvSpPr>
          <p:nvPr>
            <p:ph type="title"/>
          </p:nvPr>
        </p:nvSpPr>
        <p:spPr>
          <a:xfrm>
            <a:off x="1342491" y="103718"/>
            <a:ext cx="6054904" cy="12657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fr-FR" altLang="fr-FR" sz="2667" dirty="0"/>
              <a:t>GET UP &amp; GO! ENTREPRENEUR:</a:t>
            </a:r>
            <a:br>
              <a:rPr lang="fr-FR" altLang="fr-FR" sz="2667" dirty="0"/>
            </a:br>
            <a:r>
              <a:rPr lang="fr-FR" altLang="fr-FR" sz="2667" dirty="0"/>
              <a:t>ANNIE </a:t>
            </a:r>
            <a:endParaRPr sz="2667" dirty="0"/>
          </a:p>
        </p:txBody>
      </p:sp>
      <p:sp>
        <p:nvSpPr>
          <p:cNvPr id="6" name="Google Shape;9647;p65"/>
          <p:cNvSpPr/>
          <p:nvPr/>
        </p:nvSpPr>
        <p:spPr>
          <a:xfrm>
            <a:off x="11267895" y="195241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10352069" y="149211"/>
            <a:ext cx="769707" cy="667716"/>
          </a:xfrm>
          <a:prstGeom prst="rect">
            <a:avLst/>
          </a:prstGeom>
        </p:spPr>
      </p:pic>
      <p:sp>
        <p:nvSpPr>
          <p:cNvPr id="3" name="Textfeld 4">
            <a:extLst>
              <a:ext uri="{FF2B5EF4-FFF2-40B4-BE49-F238E27FC236}">
                <a16:creationId xmlns:a16="http://schemas.microsoft.com/office/drawing/2014/main" id="{734D84F6-D219-697F-0579-59C886D7AC60}"/>
              </a:ext>
            </a:extLst>
          </p:cNvPr>
          <p:cNvSpPr txBox="1"/>
          <p:nvPr/>
        </p:nvSpPr>
        <p:spPr>
          <a:xfrm>
            <a:off x="231141" y="407858"/>
            <a:ext cx="837705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de-DE" sz="1867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WS 1</a:t>
            </a:r>
            <a:endParaRPr lang="en-GB" sz="1867" kern="0" dirty="0">
              <a:solidFill>
                <a:srgbClr val="000000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B9E88D-AC53-3FFF-7592-F8DE44860CE2}"/>
              </a:ext>
            </a:extLst>
          </p:cNvPr>
          <p:cNvGraphicFramePr>
            <a:graphicFrameLocks noGrp="1"/>
          </p:cNvGraphicFramePr>
          <p:nvPr/>
        </p:nvGraphicFramePr>
        <p:xfrm>
          <a:off x="231140" y="5757589"/>
          <a:ext cx="7672493" cy="905172"/>
        </p:xfrm>
        <a:graphic>
          <a:graphicData uri="http://schemas.openxmlformats.org/drawingml/2006/table">
            <a:tbl>
              <a:tblPr firstRow="1" firstCol="1" bandRow="1"/>
              <a:tblGrid>
                <a:gridCol w="3498177">
                  <a:extLst>
                    <a:ext uri="{9D8B030D-6E8A-4147-A177-3AD203B41FA5}">
                      <a16:colId xmlns:a16="http://schemas.microsoft.com/office/drawing/2014/main" val="234695609"/>
                    </a:ext>
                  </a:extLst>
                </a:gridCol>
                <a:gridCol w="4174316">
                  <a:extLst>
                    <a:ext uri="{9D8B030D-6E8A-4147-A177-3AD203B41FA5}">
                      <a16:colId xmlns:a16="http://schemas.microsoft.com/office/drawing/2014/main" val="1487335632"/>
                    </a:ext>
                  </a:extLst>
                </a:gridCol>
              </a:tblGrid>
              <a:tr h="9051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743200" algn="l"/>
                        </a:tabLst>
                      </a:pPr>
                      <a:r>
                        <a:rPr lang="en-GB" sz="1600" cap="small">
                          <a:effectLst/>
                        </a:rPr>
                        <a:t>What is Annie's active behaviour?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743200" algn="l"/>
                        </a:tabLst>
                      </a:pPr>
                      <a:r>
                        <a:rPr lang="en-GB" sz="1600" cap="small" dirty="0">
                          <a:effectLst/>
                        </a:rPr>
                        <a:t>What are the consequences of this behaviour?</a:t>
                      </a:r>
                      <a:endParaRPr lang="en-GB" sz="15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743200" algn="l"/>
                        </a:tabLst>
                      </a:pPr>
                      <a:r>
                        <a:rPr lang="en-GB" sz="1600" dirty="0">
                          <a:effectLst/>
                        </a:rPr>
                        <a:t> 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759377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59300CE-D185-D8C1-DA79-AC314208A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987" y="5856960"/>
            <a:ext cx="246286" cy="410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4847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>
            <a:spLocks noGrp="1"/>
          </p:cNvSpPr>
          <p:nvPr>
            <p:ph type="body" idx="4294967295"/>
          </p:nvPr>
        </p:nvSpPr>
        <p:spPr>
          <a:xfrm>
            <a:off x="1" y="1369484"/>
            <a:ext cx="7519951" cy="395393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48343" indent="0">
              <a:buNone/>
            </a:pPr>
            <a:r>
              <a:rPr lang="en-US" sz="1467" dirty="0"/>
              <a:t>Hello, my name is Pauline.  I learned about the production and marketing of herbs from my parents.  When they got older, I took over their business and   basically stuck to their business routine because it worked okay for them.  I never really looked for new ways to do anything, like increase production or improve marketing. </a:t>
            </a:r>
          </a:p>
          <a:p>
            <a:pPr marL="248343" indent="0">
              <a:buNone/>
            </a:pPr>
            <a:r>
              <a:rPr lang="en-US" sz="1467" dirty="0"/>
              <a:t> </a:t>
            </a:r>
          </a:p>
          <a:p>
            <a:pPr marL="248343" indent="0">
              <a:buNone/>
            </a:pPr>
            <a:r>
              <a:rPr lang="en-US" sz="1467" dirty="0"/>
              <a:t>However, one of my main problems is packaging and selling my herbs.  It takes a long time to get into Nairobi to buy the packaging I need.  As a result, I avoid travelling if possible, but that means I can run out of boxes and bags for my products.  For the same reason, I don’t usually attend the big trade markets where my competitors exhibit their products and look for business partners.  Slower sales also mean I lack space to store my products.  I can’t really think of anything I can do to change these problems; I’m just hoping one day there will be a new road to Nairobi.</a:t>
            </a:r>
          </a:p>
          <a:p>
            <a:pPr marL="248343" indent="0">
              <a:buNone/>
            </a:pPr>
            <a:endParaRPr lang="en-US" sz="1467" dirty="0"/>
          </a:p>
          <a:p>
            <a:pPr marL="248343" indent="0">
              <a:buNone/>
            </a:pPr>
            <a:endParaRPr lang="en-US" sz="1467" dirty="0"/>
          </a:p>
        </p:txBody>
      </p:sp>
      <p:sp>
        <p:nvSpPr>
          <p:cNvPr id="231" name="Google Shape;231;p33"/>
          <p:cNvSpPr txBox="1">
            <a:spLocks noGrp="1"/>
          </p:cNvSpPr>
          <p:nvPr>
            <p:ph type="title"/>
          </p:nvPr>
        </p:nvSpPr>
        <p:spPr>
          <a:xfrm>
            <a:off x="1422400" y="103718"/>
            <a:ext cx="4776763" cy="12657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fr-FR" altLang="fr-FR" sz="2667" i="1" dirty="0"/>
              <a:t>LAID BACK </a:t>
            </a:r>
            <a:r>
              <a:rPr lang="fr-FR" altLang="fr-FR" sz="2667" dirty="0"/>
              <a:t>ENTREPRENEUR:</a:t>
            </a:r>
            <a:br>
              <a:rPr lang="fr-FR" altLang="fr-FR" sz="2667" dirty="0"/>
            </a:br>
            <a:r>
              <a:rPr lang="fr-FR" altLang="fr-FR" sz="2667" dirty="0"/>
              <a:t>PAULINE </a:t>
            </a:r>
            <a:endParaRPr sz="2667" dirty="0"/>
          </a:p>
        </p:txBody>
      </p:sp>
      <p:pic>
        <p:nvPicPr>
          <p:cNvPr id="5" name="image16.jpg"/>
          <p:cNvPicPr preferRelativeResize="0"/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24"/>
          <a:stretch/>
        </p:blipFill>
        <p:spPr>
          <a:xfrm>
            <a:off x="7519952" y="-20320"/>
            <a:ext cx="4672049" cy="6888480"/>
          </a:xfrm>
          <a:prstGeom prst="rect">
            <a:avLst/>
          </a:prstGeom>
          <a:noFill/>
        </p:spPr>
      </p:pic>
      <p:sp>
        <p:nvSpPr>
          <p:cNvPr id="6" name="Google Shape;9647;p65"/>
          <p:cNvSpPr/>
          <p:nvPr/>
        </p:nvSpPr>
        <p:spPr>
          <a:xfrm>
            <a:off x="11267895" y="195241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10352069" y="149211"/>
            <a:ext cx="769707" cy="667716"/>
          </a:xfrm>
          <a:prstGeom prst="rect">
            <a:avLst/>
          </a:prstGeom>
        </p:spPr>
      </p:pic>
      <p:sp>
        <p:nvSpPr>
          <p:cNvPr id="2" name="Textfeld 4">
            <a:extLst>
              <a:ext uri="{FF2B5EF4-FFF2-40B4-BE49-F238E27FC236}">
                <a16:creationId xmlns:a16="http://schemas.microsoft.com/office/drawing/2014/main" id="{913C54CB-3951-76F5-68C4-F91E334D3646}"/>
              </a:ext>
            </a:extLst>
          </p:cNvPr>
          <p:cNvSpPr txBox="1"/>
          <p:nvPr/>
        </p:nvSpPr>
        <p:spPr>
          <a:xfrm>
            <a:off x="198049" y="407858"/>
            <a:ext cx="993212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de-DE" sz="1867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WS 2</a:t>
            </a:r>
            <a:endParaRPr lang="en-GB" sz="1867" kern="0" dirty="0">
              <a:solidFill>
                <a:srgbClr val="000000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6639EE-D2B6-323D-15E4-E1DC23033A3F}"/>
              </a:ext>
            </a:extLst>
          </p:cNvPr>
          <p:cNvGraphicFramePr>
            <a:graphicFrameLocks noGrp="1"/>
          </p:cNvGraphicFramePr>
          <p:nvPr/>
        </p:nvGraphicFramePr>
        <p:xfrm>
          <a:off x="343452" y="5422089"/>
          <a:ext cx="7672493" cy="905172"/>
        </p:xfrm>
        <a:graphic>
          <a:graphicData uri="http://schemas.openxmlformats.org/drawingml/2006/table">
            <a:tbl>
              <a:tblPr firstRow="1" firstCol="1" bandRow="1"/>
              <a:tblGrid>
                <a:gridCol w="3199399">
                  <a:extLst>
                    <a:ext uri="{9D8B030D-6E8A-4147-A177-3AD203B41FA5}">
                      <a16:colId xmlns:a16="http://schemas.microsoft.com/office/drawing/2014/main" val="1748236562"/>
                    </a:ext>
                  </a:extLst>
                </a:gridCol>
                <a:gridCol w="4473095">
                  <a:extLst>
                    <a:ext uri="{9D8B030D-6E8A-4147-A177-3AD203B41FA5}">
                      <a16:colId xmlns:a16="http://schemas.microsoft.com/office/drawing/2014/main" val="2975410489"/>
                    </a:ext>
                  </a:extLst>
                </a:gridCol>
              </a:tblGrid>
              <a:tr h="9051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743200" algn="l"/>
                        </a:tabLst>
                      </a:pPr>
                      <a:r>
                        <a:rPr lang="en-GB" sz="1600" cap="small">
                          <a:effectLst/>
                        </a:rPr>
                        <a:t>What is Pauline's reactive behaviour?</a:t>
                      </a:r>
                      <a:endParaRPr lang="en-GB" sz="15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743200" algn="l"/>
                        </a:tabLst>
                      </a:pPr>
                      <a:r>
                        <a:rPr lang="en-GB" sz="1600">
                          <a:effectLst/>
                        </a:rPr>
                        <a:t> 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743200" algn="l"/>
                        </a:tabLst>
                      </a:pPr>
                      <a:r>
                        <a:rPr lang="en-GB" sz="1600" cap="small" dirty="0">
                          <a:effectLst/>
                        </a:rPr>
                        <a:t>What are the consequences of this behaviour?</a:t>
                      </a:r>
                      <a:endParaRPr lang="en-GB" sz="15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743200" algn="l"/>
                        </a:tabLst>
                      </a:pPr>
                      <a:r>
                        <a:rPr lang="en-GB" sz="1600" dirty="0">
                          <a:effectLst/>
                        </a:rPr>
                        <a:t> 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6265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708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481667" y="317501"/>
            <a:ext cx="7620000" cy="698500"/>
          </a:xfrm>
          <a:noFill/>
        </p:spPr>
        <p:txBody>
          <a:bodyPr/>
          <a:lstStyle/>
          <a:p>
            <a:r>
              <a:rPr lang="fr-FR" dirty="0"/>
              <a:t>EXERCISE </a:t>
            </a:r>
            <a:r>
              <a:rPr lang="fr-FR" b="0" dirty="0"/>
              <a:t>Self-</a:t>
            </a:r>
            <a:r>
              <a:rPr lang="fr-FR" b="0" dirty="0" err="1"/>
              <a:t>Starting</a:t>
            </a:r>
            <a:endParaRPr lang="fr-FR" noProof="0" dirty="0"/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1408113" y="976437"/>
            <a:ext cx="9296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fr-SN" sz="2000" b="1" kern="0" dirty="0">
                <a:solidFill>
                  <a:srgbClr val="434343"/>
                </a:solidFill>
                <a:cs typeface="Arial"/>
                <a:sym typeface="Arial"/>
              </a:rPr>
              <a:t>Example: Daily routine of a small grocery shop owner</a:t>
            </a:r>
          </a:p>
        </p:txBody>
      </p:sp>
      <p:sp>
        <p:nvSpPr>
          <p:cNvPr id="24580" name="Text Box 6"/>
          <p:cNvSpPr txBox="1">
            <a:spLocks noChangeArrowheads="1"/>
          </p:cNvSpPr>
          <p:nvPr/>
        </p:nvSpPr>
        <p:spPr bwMode="auto">
          <a:xfrm>
            <a:off x="1231729" y="1566835"/>
            <a:ext cx="9078651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fr-FR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Time          </a:t>
            </a:r>
            <a:r>
              <a:rPr lang="fr-FR" sz="1467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Activities</a:t>
            </a:r>
            <a:endParaRPr lang="fr-FR" sz="1467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</p:txBody>
      </p:sp>
      <p:sp>
        <p:nvSpPr>
          <p:cNvPr id="24581" name="Line 7"/>
          <p:cNvSpPr>
            <a:spLocks noChangeShapeType="1"/>
          </p:cNvSpPr>
          <p:nvPr/>
        </p:nvSpPr>
        <p:spPr bwMode="auto">
          <a:xfrm>
            <a:off x="2089809" y="1566835"/>
            <a:ext cx="6040" cy="496186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noFill/>
              </a14:hiddenFill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333" kern="0" dirty="0">
              <a:solidFill>
                <a:srgbClr val="000000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</p:txBody>
      </p:sp>
      <p:sp>
        <p:nvSpPr>
          <p:cNvPr id="24582" name="Line 8"/>
          <p:cNvSpPr>
            <a:spLocks noChangeShapeType="1"/>
          </p:cNvSpPr>
          <p:nvPr/>
        </p:nvSpPr>
        <p:spPr bwMode="auto">
          <a:xfrm>
            <a:off x="1267486" y="1947835"/>
            <a:ext cx="9356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noFill/>
              </a14:hiddenFill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US" sz="1333" kern="0" dirty="0">
              <a:solidFill>
                <a:srgbClr val="000000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</p:txBody>
      </p:sp>
      <p:sp>
        <p:nvSpPr>
          <p:cNvPr id="24583" name="Text Box 10"/>
          <p:cNvSpPr txBox="1">
            <a:spLocks noChangeArrowheads="1"/>
          </p:cNvSpPr>
          <p:nvPr/>
        </p:nvSpPr>
        <p:spPr bwMode="auto">
          <a:xfrm>
            <a:off x="1231729" y="2024036"/>
            <a:ext cx="965200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en-US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8.00 </a:t>
            </a:r>
          </a:p>
        </p:txBody>
      </p:sp>
      <p:sp>
        <p:nvSpPr>
          <p:cNvPr id="24584" name="Text Box 11"/>
          <p:cNvSpPr txBox="1">
            <a:spLocks noChangeArrowheads="1"/>
          </p:cNvSpPr>
          <p:nvPr/>
        </p:nvSpPr>
        <p:spPr bwMode="auto">
          <a:xfrm>
            <a:off x="2166010" y="2024035"/>
            <a:ext cx="8570913" cy="483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fr-SN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Open the shop and put up the usual advertising outside the shop. </a:t>
            </a:r>
          </a:p>
          <a:p>
            <a:pPr defTabSz="1219170">
              <a:buClr>
                <a:srgbClr val="000000"/>
              </a:buClr>
            </a:pPr>
            <a:r>
              <a:rPr lang="fr-SN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Wait for the first customer. </a:t>
            </a:r>
          </a:p>
          <a:p>
            <a:pPr defTabSz="1219170">
              <a:buClr>
                <a:srgbClr val="000000"/>
              </a:buClr>
            </a:pPr>
            <a:endParaRPr lang="fr-SN" sz="1467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fr-SN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Telephone call from the supplier: he will not be able to deliver fresh fruit today. </a:t>
            </a:r>
          </a:p>
          <a:p>
            <a:pPr defTabSz="1219170">
              <a:buClr>
                <a:srgbClr val="000000"/>
              </a:buClr>
            </a:pPr>
            <a:r>
              <a:rPr lang="fr-SN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This is already the third time this has happened in a fortnight. Hopefully it will get better soon. </a:t>
            </a:r>
          </a:p>
          <a:p>
            <a:pPr defTabSz="1219170">
              <a:buClr>
                <a:srgbClr val="000000"/>
              </a:buClr>
            </a:pPr>
            <a:endParaRPr lang="fr-SN" sz="1467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fr-SN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Customer service. Some people leave the shop without buying anything because they are only looking for fresh fruit. Send these customers to the competitor on the next street. </a:t>
            </a:r>
          </a:p>
          <a:p>
            <a:pPr defTabSz="1219170">
              <a:buClr>
                <a:srgbClr val="000000"/>
              </a:buClr>
            </a:pPr>
            <a:endParaRPr lang="fr-SN" sz="1467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fr-SN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Not many customers today, use the time to call friends and start chatting.</a:t>
            </a:r>
          </a:p>
          <a:p>
            <a:pPr defTabSz="1219170">
              <a:buClr>
                <a:srgbClr val="000000"/>
              </a:buClr>
            </a:pPr>
            <a:endParaRPr lang="fr-SN" sz="1467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fr-SN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Cleaning of the shop front and signage. </a:t>
            </a:r>
          </a:p>
          <a:p>
            <a:pPr defTabSz="1219170">
              <a:buClr>
                <a:srgbClr val="000000"/>
              </a:buClr>
            </a:pPr>
            <a:endParaRPr lang="fr-SN" sz="1467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fr-SN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Closing of the shop. </a:t>
            </a:r>
          </a:p>
          <a:p>
            <a:pPr defTabSz="1219170">
              <a:buClr>
                <a:srgbClr val="000000"/>
              </a:buClr>
            </a:pPr>
            <a:endParaRPr lang="fr-SN" sz="1467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fr-SN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Counting sales and calculating turnover for today - a bad </a:t>
            </a:r>
            <a:r>
              <a:rPr lang="fr-SN" sz="1467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day</a:t>
            </a:r>
            <a:r>
              <a:rPr lang="fr-SN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...</a:t>
            </a:r>
          </a:p>
          <a:p>
            <a:pPr defTabSz="1219170">
              <a:buClr>
                <a:srgbClr val="000000"/>
              </a:buClr>
            </a:pPr>
            <a:endParaRPr lang="fr-SN" sz="1467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fr-FR" sz="1467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Instruction: </a:t>
            </a:r>
          </a:p>
          <a:p>
            <a:pPr defTabSz="1219170">
              <a:buClr>
                <a:srgbClr val="000000"/>
              </a:buClr>
            </a:pPr>
            <a:endParaRPr lang="fr-SN" sz="1467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fr-SN" sz="1467" b="1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Review</a:t>
            </a:r>
            <a:r>
              <a:rPr lang="fr-SN" sz="1467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SN" sz="1467" b="1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this</a:t>
            </a:r>
            <a:r>
              <a:rPr lang="fr-SN" sz="1467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shop </a:t>
            </a:r>
            <a:r>
              <a:rPr lang="fr-SN" sz="1467" b="1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owner’s</a:t>
            </a:r>
            <a:r>
              <a:rPr lang="fr-SN" sz="1467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routine and </a:t>
            </a:r>
            <a:r>
              <a:rPr lang="fr-SN" sz="1467" b="1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identify</a:t>
            </a:r>
            <a:r>
              <a:rPr lang="fr-SN" sz="1467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SN" sz="1467" b="1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where</a:t>
            </a:r>
            <a:r>
              <a:rPr lang="fr-SN" sz="1467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SN" sz="1467" b="1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they</a:t>
            </a:r>
            <a:r>
              <a:rPr lang="fr-SN" sz="1467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SN" sz="1467" b="1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should</a:t>
            </a:r>
            <a:r>
              <a:rPr lang="fr-SN" sz="1467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SN" sz="1467" b="1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be</a:t>
            </a:r>
            <a:r>
              <a:rPr lang="fr-SN" sz="1467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more Go-</a:t>
            </a:r>
            <a:r>
              <a:rPr lang="fr-SN" sz="1467" b="1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Getting</a:t>
            </a:r>
            <a:r>
              <a:rPr lang="fr-SN" sz="1467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!</a:t>
            </a:r>
          </a:p>
        </p:txBody>
      </p:sp>
      <p:sp>
        <p:nvSpPr>
          <p:cNvPr id="24585" name="Text Box 12"/>
          <p:cNvSpPr txBox="1">
            <a:spLocks noChangeArrowheads="1"/>
          </p:cNvSpPr>
          <p:nvPr/>
        </p:nvSpPr>
        <p:spPr bwMode="auto">
          <a:xfrm>
            <a:off x="1115846" y="2280118"/>
            <a:ext cx="1110551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en-US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- 8.45 </a:t>
            </a:r>
          </a:p>
        </p:txBody>
      </p:sp>
      <p:sp>
        <p:nvSpPr>
          <p:cNvPr id="24586" name="Text Box 13"/>
          <p:cNvSpPr txBox="1">
            <a:spLocks noChangeArrowheads="1"/>
          </p:cNvSpPr>
          <p:nvPr/>
        </p:nvSpPr>
        <p:spPr bwMode="auto">
          <a:xfrm>
            <a:off x="1231731" y="2805684"/>
            <a:ext cx="990915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en-US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9.00 </a:t>
            </a:r>
          </a:p>
        </p:txBody>
      </p:sp>
      <p:sp>
        <p:nvSpPr>
          <p:cNvPr id="24587" name="Text Box 14"/>
          <p:cNvSpPr txBox="1">
            <a:spLocks noChangeArrowheads="1"/>
          </p:cNvSpPr>
          <p:nvPr/>
        </p:nvSpPr>
        <p:spPr bwMode="auto">
          <a:xfrm>
            <a:off x="1231730" y="3792328"/>
            <a:ext cx="1217613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en-US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9.30 </a:t>
            </a:r>
          </a:p>
        </p:txBody>
      </p:sp>
      <p:sp>
        <p:nvSpPr>
          <p:cNvPr id="24588" name="Text Box 15"/>
          <p:cNvSpPr txBox="1">
            <a:spLocks noChangeArrowheads="1"/>
          </p:cNvSpPr>
          <p:nvPr/>
        </p:nvSpPr>
        <p:spPr bwMode="auto">
          <a:xfrm>
            <a:off x="1147323" y="4440418"/>
            <a:ext cx="1224663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en-US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11.00 </a:t>
            </a:r>
          </a:p>
        </p:txBody>
      </p:sp>
      <p:sp>
        <p:nvSpPr>
          <p:cNvPr id="24589" name="Text Box 17"/>
          <p:cNvSpPr txBox="1">
            <a:spLocks noChangeArrowheads="1"/>
          </p:cNvSpPr>
          <p:nvPr/>
        </p:nvSpPr>
        <p:spPr bwMode="auto">
          <a:xfrm>
            <a:off x="1231730" y="5182014"/>
            <a:ext cx="1116508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en-US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1.00 </a:t>
            </a:r>
          </a:p>
        </p:txBody>
      </p:sp>
      <p:sp>
        <p:nvSpPr>
          <p:cNvPr id="24591" name="Text Box 20"/>
          <p:cNvSpPr txBox="1">
            <a:spLocks noChangeArrowheads="1"/>
          </p:cNvSpPr>
          <p:nvPr/>
        </p:nvSpPr>
        <p:spPr bwMode="auto">
          <a:xfrm>
            <a:off x="1115845" y="6192158"/>
            <a:ext cx="1404939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en-US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	 </a:t>
            </a:r>
          </a:p>
        </p:txBody>
      </p:sp>
      <p:sp>
        <p:nvSpPr>
          <p:cNvPr id="24592" name="Text Box 21"/>
          <p:cNvSpPr txBox="1">
            <a:spLocks noChangeArrowheads="1"/>
          </p:cNvSpPr>
          <p:nvPr/>
        </p:nvSpPr>
        <p:spPr bwMode="auto">
          <a:xfrm>
            <a:off x="1231730" y="5688088"/>
            <a:ext cx="1214439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000000"/>
              </a:buClr>
            </a:pPr>
            <a:r>
              <a:rPr lang="en-US" sz="1467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4.30 </a:t>
            </a:r>
          </a:p>
        </p:txBody>
      </p:sp>
      <p:pic>
        <p:nvPicPr>
          <p:cNvPr id="24" name="Grafik 2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10352069" y="149211"/>
            <a:ext cx="769707" cy="66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05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11"/>
          <p:cNvSpPr>
            <a:spLocks noChangeArrowheads="1"/>
          </p:cNvSpPr>
          <p:nvPr/>
        </p:nvSpPr>
        <p:spPr bwMode="auto">
          <a:xfrm>
            <a:off x="1487490" y="1557339"/>
            <a:ext cx="6497271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12700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spcBef>
                <a:spcPct val="50000"/>
              </a:spcBef>
              <a:buClr>
                <a:srgbClr val="769452"/>
              </a:buClr>
            </a:pPr>
            <a:r>
              <a:rPr lang="fr-FR" sz="2000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Instruction: </a:t>
            </a:r>
          </a:p>
          <a:p>
            <a:pPr defTabSz="1219170">
              <a:spcBef>
                <a:spcPct val="50000"/>
              </a:spcBef>
              <a:buClr>
                <a:srgbClr val="769452"/>
              </a:buClr>
            </a:pP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Work in groups of </a:t>
            </a:r>
            <a:r>
              <a:rPr lang="fr-FR" sz="2000" b="1" kern="0" dirty="0">
                <a:solidFill>
                  <a:srgbClr val="769452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~Two (02) people.</a:t>
            </a:r>
          </a:p>
          <a:p>
            <a:pPr defTabSz="1219170">
              <a:spcBef>
                <a:spcPct val="50000"/>
              </a:spcBef>
              <a:buClr>
                <a:srgbClr val="769452"/>
              </a:buClr>
            </a:pPr>
            <a:endParaRPr lang="fr-FR" sz="2000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  <a:p>
            <a:pPr marL="457189" indent="-457189" defTabSz="1219170">
              <a:spcBef>
                <a:spcPct val="50000"/>
              </a:spcBef>
              <a:buClr>
                <a:srgbClr val="769452"/>
              </a:buClr>
              <a:buFont typeface="+mj-lt"/>
              <a:buAutoNum type="arabicPeriod"/>
            </a:pP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Each</a:t>
            </a: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write</a:t>
            </a: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down </a:t>
            </a: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activities</a:t>
            </a: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from</a:t>
            </a: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your</a:t>
            </a: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most</a:t>
            </a: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recent</a:t>
            </a: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working</a:t>
            </a: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day</a:t>
            </a:r>
            <a:endParaRPr lang="fr-FR" sz="2000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  <a:p>
            <a:pPr marL="1371566" lvl="1" indent="-380990" defTabSz="1219170">
              <a:spcBef>
                <a:spcPct val="50000"/>
              </a:spcBef>
              <a:buClr>
                <a:srgbClr val="769452"/>
              </a:buClr>
              <a:buFontTx/>
              <a:buChar char="-"/>
            </a:pPr>
            <a:r>
              <a:rPr lang="fr-SN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What</a:t>
            </a:r>
            <a:r>
              <a:rPr lang="fr-SN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SN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went</a:t>
            </a:r>
            <a:r>
              <a:rPr lang="fr-SN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SN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wrong</a:t>
            </a:r>
            <a:r>
              <a:rPr lang="fr-SN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?</a:t>
            </a:r>
          </a:p>
          <a:p>
            <a:pPr marL="1371566" lvl="1" indent="-380990" defTabSz="1219170">
              <a:spcBef>
                <a:spcPct val="50000"/>
              </a:spcBef>
              <a:buClr>
                <a:srgbClr val="769452"/>
              </a:buClr>
              <a:buFontTx/>
              <a:buChar char="-"/>
            </a:pPr>
            <a:r>
              <a:rPr lang="fr-SN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Where</a:t>
            </a:r>
            <a:r>
              <a:rPr lang="fr-SN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have </a:t>
            </a:r>
            <a:r>
              <a:rPr lang="fr-SN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you</a:t>
            </a:r>
            <a:r>
              <a:rPr lang="fr-SN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been </a:t>
            </a:r>
            <a:r>
              <a:rPr lang="fr-SN" sz="2000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Active</a:t>
            </a:r>
            <a:r>
              <a:rPr lang="fr-SN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? </a:t>
            </a:r>
            <a:r>
              <a:rPr lang="fr-SN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Where</a:t>
            </a:r>
            <a:r>
              <a:rPr lang="fr-SN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have </a:t>
            </a:r>
            <a:r>
              <a:rPr lang="fr-SN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you</a:t>
            </a:r>
            <a:r>
              <a:rPr lang="fr-SN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been </a:t>
            </a:r>
            <a:r>
              <a:rPr lang="fr-SN" sz="2000" b="1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Laid Back</a:t>
            </a:r>
            <a:r>
              <a:rPr lang="fr-SN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? </a:t>
            </a:r>
          </a:p>
          <a:p>
            <a:pPr marL="1371566" lvl="1" indent="-380990" defTabSz="1219170">
              <a:spcBef>
                <a:spcPct val="50000"/>
              </a:spcBef>
              <a:buClr>
                <a:srgbClr val="769452"/>
              </a:buClr>
              <a:buFontTx/>
              <a:buChar char="-"/>
            </a:pPr>
            <a:r>
              <a:rPr lang="fr-SN" sz="2000" kern="0" dirty="0" err="1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What</a:t>
            </a:r>
            <a:r>
              <a:rPr lang="fr-SN" sz="2000" kern="0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more active </a:t>
            </a:r>
            <a:r>
              <a:rPr lang="fr-SN" sz="2000" kern="0" dirty="0" err="1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behaviours</a:t>
            </a:r>
            <a:r>
              <a:rPr lang="fr-SN" sz="2000" kern="0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SN" sz="2000" kern="0" dirty="0" err="1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could</a:t>
            </a:r>
            <a:r>
              <a:rPr lang="fr-SN" sz="2000" kern="0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SN" sz="2000" kern="0" dirty="0" err="1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you</a:t>
            </a:r>
            <a:r>
              <a:rPr lang="fr-SN" sz="2000" kern="0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have </a:t>
            </a:r>
            <a:r>
              <a:rPr lang="fr-SN" sz="2000" kern="0" dirty="0" err="1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used</a:t>
            </a:r>
            <a:r>
              <a:rPr lang="fr-SN" sz="2000" kern="0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SN" sz="2000" kern="0" dirty="0" err="1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instead</a:t>
            </a:r>
            <a:r>
              <a:rPr lang="fr-SN" sz="2000" kern="0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?</a:t>
            </a:r>
          </a:p>
          <a:p>
            <a:pPr marL="457189" indent="-457189" defTabSz="1219170">
              <a:spcBef>
                <a:spcPct val="50000"/>
              </a:spcBef>
              <a:buClr>
                <a:srgbClr val="769452"/>
              </a:buClr>
              <a:buFont typeface="+mj-lt"/>
              <a:buAutoNum type="arabicPeriod"/>
            </a:pP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Share </a:t>
            </a: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with</a:t>
            </a: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your</a:t>
            </a:r>
            <a:r>
              <a:rPr lang="fr-FR" sz="2000" kern="0" dirty="0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 </a:t>
            </a:r>
            <a:r>
              <a:rPr lang="fr-FR" sz="2000" kern="0" dirty="0" err="1">
                <a:solidFill>
                  <a:srgbClr val="434343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partner</a:t>
            </a:r>
            <a:endParaRPr lang="fr-FR" sz="2000" b="1" kern="0" dirty="0">
              <a:solidFill>
                <a:srgbClr val="434343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</p:txBody>
      </p:sp>
      <p:sp>
        <p:nvSpPr>
          <p:cNvPr id="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487488" y="317501"/>
            <a:ext cx="7207779" cy="698500"/>
          </a:xfrm>
          <a:noFill/>
        </p:spPr>
        <p:txBody>
          <a:bodyPr/>
          <a:lstStyle/>
          <a:p>
            <a:r>
              <a:rPr lang="fr-FR" dirty="0"/>
              <a:t>EXERCISE </a:t>
            </a:r>
            <a:r>
              <a:rPr lang="fr-FR" b="0" dirty="0"/>
              <a:t>Self-</a:t>
            </a:r>
            <a:r>
              <a:rPr lang="fr-FR" b="0" dirty="0" err="1"/>
              <a:t>Starting</a:t>
            </a:r>
            <a:endParaRPr lang="fr-FR" noProof="0" dirty="0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172633" y="1147065"/>
            <a:ext cx="929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14="http://schemas.microsoft.com/office/powerpoint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14="http://schemas.microsoft.com/office/powerpoint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 sz="2000" b="1">
                <a:solidFill>
                  <a:schemeClr val="tx2"/>
                </a:solidFill>
                <a:latin typeface="Arial" charset="0"/>
              </a:defRPr>
            </a:lvl2pPr>
            <a:lvl3pPr>
              <a:defRPr sz="2000" b="1">
                <a:solidFill>
                  <a:schemeClr val="tx2"/>
                </a:solidFill>
                <a:latin typeface="Arial" charset="0"/>
              </a:defRPr>
            </a:lvl3pPr>
            <a:lvl4pPr>
              <a:defRPr sz="2000" b="1">
                <a:solidFill>
                  <a:schemeClr val="tx2"/>
                </a:solidFill>
                <a:latin typeface="Arial" charset="0"/>
              </a:defRPr>
            </a:lvl4pPr>
            <a:lvl5pPr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defTabSz="1219170">
              <a:buClr>
                <a:srgbClr val="000000"/>
              </a:buClr>
            </a:pPr>
            <a:endParaRPr lang="en-US" kern="0" dirty="0">
              <a:solidFill>
                <a:srgbClr val="EDEDED"/>
              </a:solidFill>
              <a:latin typeface="Arial"/>
              <a:sym typeface="Arial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10352069" y="149211"/>
            <a:ext cx="769707" cy="667716"/>
          </a:xfrm>
          <a:prstGeom prst="rect">
            <a:avLst/>
          </a:prstGeom>
        </p:spPr>
      </p:pic>
      <p:sp>
        <p:nvSpPr>
          <p:cNvPr id="9" name="Textfeld 8"/>
          <p:cNvSpPr txBox="1"/>
          <p:nvPr/>
        </p:nvSpPr>
        <p:spPr>
          <a:xfrm>
            <a:off x="257255" y="317501"/>
            <a:ext cx="623889" cy="66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de-DE" sz="1867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WS </a:t>
            </a:r>
          </a:p>
          <a:p>
            <a:pPr algn="ctr" defTabSz="1219170">
              <a:buClr>
                <a:srgbClr val="000000"/>
              </a:buClr>
            </a:pPr>
            <a:r>
              <a:rPr lang="de-DE" sz="1867" kern="0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  <a:sym typeface="Arial"/>
              </a:rPr>
              <a:t>3</a:t>
            </a:r>
            <a:endParaRPr lang="en-GB" sz="1867" kern="0" dirty="0">
              <a:solidFill>
                <a:srgbClr val="000000"/>
              </a:solidFill>
              <a:latin typeface="Poppins" panose="020B0604020202020204" charset="0"/>
              <a:cs typeface="Poppins" panose="020B0604020202020204" charset="0"/>
              <a:sym typeface="Arial"/>
            </a:endParaRPr>
          </a:p>
        </p:txBody>
      </p:sp>
      <p:pic>
        <p:nvPicPr>
          <p:cNvPr id="15" name="Graphic 14" descr="Store with solid fill">
            <a:extLst>
              <a:ext uri="{FF2B5EF4-FFF2-40B4-BE49-F238E27FC236}">
                <a16:creationId xmlns:a16="http://schemas.microsoft.com/office/drawing/2014/main" id="{AA622536-B09F-3D12-7884-65A2946BD1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9297" y="2249213"/>
            <a:ext cx="2945524" cy="294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41662"/>
      </p:ext>
    </p:extLst>
  </p:cSld>
  <p:clrMapOvr>
    <a:masterClrMapping/>
  </p:clrMapOvr>
</p:sld>
</file>

<file path=ppt/theme/theme1.xml><?xml version="1.0" encoding="utf-8"?>
<a:theme xmlns:a="http://schemas.openxmlformats.org/drawingml/2006/main" name="Junity School Meeting by Slidesgo">
  <a:themeElements>
    <a:clrScheme name="Benutzerdefiniert 3">
      <a:dk1>
        <a:srgbClr val="434343"/>
      </a:dk1>
      <a:lt1>
        <a:srgbClr val="EDEDED"/>
      </a:lt1>
      <a:dk2>
        <a:srgbClr val="47652B"/>
      </a:dk2>
      <a:lt2>
        <a:srgbClr val="EDEDED"/>
      </a:lt2>
      <a:accent1>
        <a:srgbClr val="ADBF9B"/>
      </a:accent1>
      <a:accent2>
        <a:srgbClr val="364F27"/>
      </a:accent2>
      <a:accent3>
        <a:srgbClr val="769452"/>
      </a:accent3>
      <a:accent4>
        <a:srgbClr val="434343"/>
      </a:accent4>
      <a:accent5>
        <a:srgbClr val="769452"/>
      </a:accent5>
      <a:accent6>
        <a:srgbClr val="A3B58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1123</Words>
  <Application>Microsoft Office PowerPoint</Application>
  <PresentationFormat>Widescreen</PresentationFormat>
  <Paragraphs>149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Aptos</vt:lpstr>
      <vt:lpstr>Arial</vt:lpstr>
      <vt:lpstr>Bahnschrift Light</vt:lpstr>
      <vt:lpstr>Calibri</vt:lpstr>
      <vt:lpstr>Josefin Sans</vt:lpstr>
      <vt:lpstr>Josefin Sans Thin</vt:lpstr>
      <vt:lpstr>Lilita One</vt:lpstr>
      <vt:lpstr>Poppins</vt:lpstr>
      <vt:lpstr>Poppins Light</vt:lpstr>
      <vt:lpstr>Rokkitt Regular</vt:lpstr>
      <vt:lpstr>Staatliches</vt:lpstr>
      <vt:lpstr>Symbol</vt:lpstr>
      <vt:lpstr>Wingdings</vt:lpstr>
      <vt:lpstr>Junity School Meeting by Slidesgo</vt:lpstr>
      <vt:lpstr>PowerPoint Presentation</vt:lpstr>
      <vt:lpstr>WHAT YOU NEED TO DO Self-Starting </vt:lpstr>
      <vt:lpstr>REACTIVE AND PROACTIVE BEHAVIOUR</vt:lpstr>
      <vt:lpstr>Changing Difficult Circumstances</vt:lpstr>
      <vt:lpstr>JUMP OUT OF YOUR COMFORT ZONE! </vt:lpstr>
      <vt:lpstr>EXERCISE</vt:lpstr>
      <vt:lpstr>GET UP &amp; GO! ENTREPRENEUR: ANNIE </vt:lpstr>
      <vt:lpstr>LAID BACK ENTREPRENEUR: PAULINE </vt:lpstr>
      <vt:lpstr>EXERCISE Self-Starting</vt:lpstr>
      <vt:lpstr>EXERCISE Self-Starting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Shona Passfield</dc:creator>
  <cp:lastModifiedBy>Shona Passfield</cp:lastModifiedBy>
  <cp:revision>1</cp:revision>
  <dcterms:created xsi:type="dcterms:W3CDTF">2024-02-09T17:40:22Z</dcterms:created>
  <dcterms:modified xsi:type="dcterms:W3CDTF">2024-07-22T13:14:39Z</dcterms:modified>
</cp:coreProperties>
</file>